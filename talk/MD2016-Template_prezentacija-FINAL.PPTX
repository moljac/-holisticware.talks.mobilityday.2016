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png" ContentType="image/png"/>
  <Default Extension="jpg" ContentType="image/jpeg"/>
  <Default Extension="emf" ContentType="image/x-emf"/>
  <Default Extension="rels" ContentType="application/vnd.openxmlformats-package.relationships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25"/>
  </p:notesMasterIdLst>
  <p:handoutMasterIdLst>
    <p:handoutMasterId r:id="rId26"/>
  </p:handoutMasterIdLst>
  <p:sldIdLst>
    <p:sldId id="262" r:id="rId5"/>
    <p:sldId id="263" r:id="rId6"/>
    <p:sldId id="271" r:id="rId7"/>
    <p:sldId id="264" r:id="rId8"/>
    <p:sldId id="274" r:id="rId9"/>
    <p:sldId id="275" r:id="rId10"/>
    <p:sldId id="276" r:id="rId11"/>
    <p:sldId id="284" r:id="rId12"/>
    <p:sldId id="278" r:id="rId13"/>
    <p:sldId id="281" r:id="rId14"/>
    <p:sldId id="277" r:id="rId15"/>
    <p:sldId id="282" r:id="rId16"/>
    <p:sldId id="272" r:id="rId17"/>
    <p:sldId id="273" r:id="rId18"/>
    <p:sldId id="283" r:id="rId19"/>
    <p:sldId id="279" r:id="rId20"/>
    <p:sldId id="280" r:id="rId21"/>
    <p:sldId id="265" r:id="rId22"/>
    <p:sldId id="270" r:id="rId23"/>
    <p:sldId id="268" r:id="rId24"/>
  </p:sldIdLst>
  <p:sldSz cx="9144000" cy="6858000" type="screen4x3"/>
  <p:notesSz cx="6858000" cy="9144000"/>
  <p:defaultTextStyle>
    <a:defPPr>
      <a:defRPr lang="x-none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F408C"/>
    <a:srgbClr val="EEBD0E"/>
    <a:srgbClr val="4EADE3"/>
    <a:srgbClr val="ECA51C"/>
    <a:srgbClr val="6DBE46"/>
    <a:srgbClr val="EEBC0E"/>
    <a:srgbClr val="FAA51C"/>
    <a:srgbClr val="456AAC"/>
    <a:srgbClr val="1A2F62"/>
    <a:srgbClr val="567FB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20" autoAdjust="0"/>
    <p:restoredTop sz="94737" autoAdjust="0"/>
  </p:normalViewPr>
  <p:slideViewPr>
    <p:cSldViewPr snapToGrid="0">
      <p:cViewPr varScale="1">
        <p:scale>
          <a:sx n="89" d="100"/>
          <a:sy n="89" d="100"/>
        </p:scale>
        <p:origin x="696" y="16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notesMaster" Target="notesMasters/notesMaster1.xml"/><Relationship Id="rId26" Type="http://schemas.openxmlformats.org/officeDocument/2006/relationships/handoutMaster" Target="handoutMasters/handout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98405E8-435E-004F-B8C4-7F780EB18FFD}" type="datetimeFigureOut">
              <a:rPr lang="en-US" smtClean="0"/>
              <a:t>9/28/16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C2D3C44-059D-DA44-830F-4E03CC87E6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549502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744970E-75EA-0B45-A7C3-B10E9B39681A}" type="datetimeFigureOut">
              <a:rPr lang="en-US" smtClean="0"/>
              <a:t>9/28/16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ta-IN" smtClean="0"/>
              <a:t>Click to edit Master text styles</a:t>
            </a:r>
          </a:p>
          <a:p>
            <a:pPr lvl="1"/>
            <a:r>
              <a:rPr lang="ta-IN" smtClean="0"/>
              <a:t>Second level</a:t>
            </a:r>
          </a:p>
          <a:p>
            <a:pPr lvl="2"/>
            <a:r>
              <a:rPr lang="ta-IN" smtClean="0"/>
              <a:t>Third level</a:t>
            </a:r>
          </a:p>
          <a:p>
            <a:pPr lvl="3"/>
            <a:r>
              <a:rPr lang="ta-IN" smtClean="0"/>
              <a:t>Fourth level</a:t>
            </a:r>
          </a:p>
          <a:p>
            <a:pPr lvl="4"/>
            <a:r>
              <a:rPr lang="ta-IN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FBE1085-AD04-0D4C-9E3B-00DD168B53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98793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7.png"/><Relationship Id="rId1" Type="http://schemas.openxmlformats.org/officeDocument/2006/relationships/themeOverride" Target="../theme/themeOverride1.xml"/><Relationship Id="rId2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3.xml.rels><?xml version="1.0" encoding="UTF-8" standalone="yes"?>
<Relationships xmlns="http://schemas.openxmlformats.org/package/2006/relationships"><Relationship Id="rId20" Type="http://schemas.openxmlformats.org/officeDocument/2006/relationships/image" Target="../media/image31.png"/><Relationship Id="rId21" Type="http://schemas.openxmlformats.org/officeDocument/2006/relationships/image" Target="../media/image32.jpg"/><Relationship Id="rId22" Type="http://schemas.openxmlformats.org/officeDocument/2006/relationships/image" Target="../media/image33.jpeg"/><Relationship Id="rId23" Type="http://schemas.openxmlformats.org/officeDocument/2006/relationships/image" Target="../media/image34.jpeg"/><Relationship Id="rId24" Type="http://schemas.openxmlformats.org/officeDocument/2006/relationships/image" Target="../media/image35.jpeg"/><Relationship Id="rId25" Type="http://schemas.openxmlformats.org/officeDocument/2006/relationships/image" Target="../media/image36.jpeg"/><Relationship Id="rId26" Type="http://schemas.openxmlformats.org/officeDocument/2006/relationships/image" Target="../media/image37.jpeg"/><Relationship Id="rId27" Type="http://schemas.openxmlformats.org/officeDocument/2006/relationships/image" Target="../media/image38.jpeg"/><Relationship Id="rId28" Type="http://schemas.openxmlformats.org/officeDocument/2006/relationships/image" Target="../media/image39.jpeg"/><Relationship Id="rId29" Type="http://schemas.openxmlformats.org/officeDocument/2006/relationships/image" Target="../media/image40.jpeg"/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jpeg"/><Relationship Id="rId3" Type="http://schemas.openxmlformats.org/officeDocument/2006/relationships/image" Target="../media/image14.jpeg"/><Relationship Id="rId4" Type="http://schemas.openxmlformats.org/officeDocument/2006/relationships/image" Target="../media/image15.jpeg"/><Relationship Id="rId5" Type="http://schemas.openxmlformats.org/officeDocument/2006/relationships/image" Target="../media/image16.png"/><Relationship Id="rId30" Type="http://schemas.openxmlformats.org/officeDocument/2006/relationships/image" Target="../media/image41.jpeg"/><Relationship Id="rId31" Type="http://schemas.openxmlformats.org/officeDocument/2006/relationships/image" Target="../media/image42.png"/><Relationship Id="rId32" Type="http://schemas.openxmlformats.org/officeDocument/2006/relationships/image" Target="../media/image43.jpeg"/><Relationship Id="rId9" Type="http://schemas.openxmlformats.org/officeDocument/2006/relationships/image" Target="../media/image20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19.png"/><Relationship Id="rId33" Type="http://schemas.openxmlformats.org/officeDocument/2006/relationships/image" Target="../media/image44.jpeg"/><Relationship Id="rId34" Type="http://schemas.openxmlformats.org/officeDocument/2006/relationships/image" Target="../media/image45.jpeg"/><Relationship Id="rId35" Type="http://schemas.openxmlformats.org/officeDocument/2006/relationships/image" Target="../media/image46.jpeg"/><Relationship Id="rId36" Type="http://schemas.openxmlformats.org/officeDocument/2006/relationships/image" Target="../media/image47.jpeg"/><Relationship Id="rId10" Type="http://schemas.openxmlformats.org/officeDocument/2006/relationships/image" Target="../media/image21.emf"/><Relationship Id="rId11" Type="http://schemas.openxmlformats.org/officeDocument/2006/relationships/image" Target="../media/image22.png"/><Relationship Id="rId12" Type="http://schemas.openxmlformats.org/officeDocument/2006/relationships/image" Target="../media/image23.jpeg"/><Relationship Id="rId13" Type="http://schemas.openxmlformats.org/officeDocument/2006/relationships/image" Target="../media/image24.jpeg"/><Relationship Id="rId14" Type="http://schemas.openxmlformats.org/officeDocument/2006/relationships/image" Target="../media/image25.jpeg"/><Relationship Id="rId15" Type="http://schemas.openxmlformats.org/officeDocument/2006/relationships/image" Target="../media/image26.jpeg"/><Relationship Id="rId16" Type="http://schemas.openxmlformats.org/officeDocument/2006/relationships/image" Target="../media/image27.jpeg"/><Relationship Id="rId17" Type="http://schemas.openxmlformats.org/officeDocument/2006/relationships/image" Target="../media/image28.jpeg"/><Relationship Id="rId18" Type="http://schemas.openxmlformats.org/officeDocument/2006/relationships/image" Target="../media/image29.jpg"/><Relationship Id="rId19" Type="http://schemas.openxmlformats.org/officeDocument/2006/relationships/image" Target="../media/image30.jpeg"/><Relationship Id="rId37" Type="http://schemas.openxmlformats.org/officeDocument/2006/relationships/image" Target="../media/image48.png"/><Relationship Id="rId38" Type="http://schemas.openxmlformats.org/officeDocument/2006/relationships/image" Target="../media/image49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4" Type="http://schemas.openxmlformats.org/officeDocument/2006/relationships/image" Target="../media/image8.png"/><Relationship Id="rId5" Type="http://schemas.openxmlformats.org/officeDocument/2006/relationships/image" Target="../media/image51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Relationship Id="rId1" Type="http://schemas.openxmlformats.org/officeDocument/2006/relationships/themeOverride" Target="../theme/themeOverride2.xml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aslov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/>
          <p:cNvSpPr/>
          <p:nvPr userDrawn="1"/>
        </p:nvSpPr>
        <p:spPr>
          <a:xfrm>
            <a:off x="3276600" y="4960938"/>
            <a:ext cx="1260000" cy="1533525"/>
          </a:xfrm>
          <a:prstGeom prst="rect">
            <a:avLst/>
          </a:prstGeom>
          <a:solidFill>
            <a:srgbClr val="EEBC0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hr-HR" dirty="0"/>
          </a:p>
        </p:txBody>
      </p:sp>
      <p:sp>
        <p:nvSpPr>
          <p:cNvPr id="17" name="Rectangle 16"/>
          <p:cNvSpPr/>
          <p:nvPr userDrawn="1"/>
        </p:nvSpPr>
        <p:spPr>
          <a:xfrm>
            <a:off x="468313" y="3278188"/>
            <a:ext cx="1260000" cy="1533525"/>
          </a:xfrm>
          <a:prstGeom prst="rect">
            <a:avLst/>
          </a:prstGeom>
          <a:solidFill>
            <a:srgbClr val="2F408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hr-HR" dirty="0"/>
          </a:p>
        </p:txBody>
      </p:sp>
      <p:sp>
        <p:nvSpPr>
          <p:cNvPr id="4" name="Rectangle 3"/>
          <p:cNvSpPr/>
          <p:nvPr/>
        </p:nvSpPr>
        <p:spPr>
          <a:xfrm>
            <a:off x="3282950" y="3294063"/>
            <a:ext cx="2660650" cy="1533525"/>
          </a:xfrm>
          <a:prstGeom prst="rect">
            <a:avLst/>
          </a:prstGeom>
          <a:solidFill>
            <a:srgbClr val="2F408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eaLnBrk="1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hr-HR" dirty="0">
              <a:latin typeface="Open Sans"/>
              <a:cs typeface="Open Sans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468313" y="4965700"/>
            <a:ext cx="2655887" cy="1533525"/>
          </a:xfrm>
          <a:prstGeom prst="rect">
            <a:avLst/>
          </a:prstGeom>
          <a:solidFill>
            <a:srgbClr val="FAA5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hr-HR"/>
          </a:p>
        </p:txBody>
      </p:sp>
      <p:sp>
        <p:nvSpPr>
          <p:cNvPr id="10" name="Rectangle 9"/>
          <p:cNvSpPr/>
          <p:nvPr/>
        </p:nvSpPr>
        <p:spPr>
          <a:xfrm>
            <a:off x="6108700" y="4956175"/>
            <a:ext cx="2662238" cy="1533525"/>
          </a:xfrm>
          <a:prstGeom prst="rect">
            <a:avLst/>
          </a:prstGeom>
          <a:solidFill>
            <a:srgbClr val="6DBE4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hr-HR"/>
          </a:p>
        </p:txBody>
      </p:sp>
      <p:sp>
        <p:nvSpPr>
          <p:cNvPr id="18" name="Rectangle 17"/>
          <p:cNvSpPr/>
          <p:nvPr userDrawn="1"/>
        </p:nvSpPr>
        <p:spPr>
          <a:xfrm>
            <a:off x="1876425" y="3278188"/>
            <a:ext cx="1260000" cy="1533525"/>
          </a:xfrm>
          <a:prstGeom prst="rect">
            <a:avLst/>
          </a:prstGeom>
          <a:solidFill>
            <a:srgbClr val="29ADE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hr-HR" dirty="0"/>
          </a:p>
        </p:txBody>
      </p:sp>
      <p:sp>
        <p:nvSpPr>
          <p:cNvPr id="19" name="Rectangle 18"/>
          <p:cNvSpPr/>
          <p:nvPr userDrawn="1"/>
        </p:nvSpPr>
        <p:spPr>
          <a:xfrm>
            <a:off x="6103938" y="3294063"/>
            <a:ext cx="1260000" cy="1533525"/>
          </a:xfrm>
          <a:prstGeom prst="rect">
            <a:avLst/>
          </a:prstGeom>
          <a:solidFill>
            <a:srgbClr val="6DBE4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hr-HR" dirty="0"/>
          </a:p>
        </p:txBody>
      </p:sp>
      <p:sp>
        <p:nvSpPr>
          <p:cNvPr id="20" name="Rectangle 19"/>
          <p:cNvSpPr/>
          <p:nvPr userDrawn="1"/>
        </p:nvSpPr>
        <p:spPr>
          <a:xfrm>
            <a:off x="7510463" y="3278188"/>
            <a:ext cx="1260000" cy="1533525"/>
          </a:xfrm>
          <a:prstGeom prst="rect">
            <a:avLst/>
          </a:prstGeom>
          <a:solidFill>
            <a:srgbClr val="FAA5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hr-HR" dirty="0"/>
          </a:p>
        </p:txBody>
      </p:sp>
      <p:sp>
        <p:nvSpPr>
          <p:cNvPr id="21" name="Rectangle 20"/>
          <p:cNvSpPr/>
          <p:nvPr userDrawn="1"/>
        </p:nvSpPr>
        <p:spPr>
          <a:xfrm>
            <a:off x="4691063" y="4956175"/>
            <a:ext cx="1260000" cy="1533525"/>
          </a:xfrm>
          <a:prstGeom prst="rect">
            <a:avLst/>
          </a:prstGeom>
          <a:solidFill>
            <a:srgbClr val="2F408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hr-HR" dirty="0"/>
          </a:p>
        </p:txBody>
      </p:sp>
      <p:pic>
        <p:nvPicPr>
          <p:cNvPr id="13" name="Picture 12" descr="citus.png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19820" y="5233500"/>
            <a:ext cx="1439998" cy="978875"/>
          </a:xfrm>
          <a:prstGeom prst="rect">
            <a:avLst/>
          </a:prstGeom>
        </p:spPr>
      </p:pic>
      <p:pic>
        <p:nvPicPr>
          <p:cNvPr id="16" name="Picture 15" descr="mobendo.png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9628" y="5588463"/>
            <a:ext cx="1864411" cy="287998"/>
          </a:xfrm>
          <a:prstGeom prst="rect">
            <a:avLst/>
          </a:prstGeom>
        </p:spPr>
      </p:pic>
      <p:sp>
        <p:nvSpPr>
          <p:cNvPr id="31" name="Text Placeholder 30"/>
          <p:cNvSpPr>
            <a:spLocks noGrp="1"/>
          </p:cNvSpPr>
          <p:nvPr>
            <p:ph type="body" sz="quarter" idx="10" hasCustomPrompt="1"/>
          </p:nvPr>
        </p:nvSpPr>
        <p:spPr>
          <a:xfrm>
            <a:off x="3516342" y="3287010"/>
            <a:ext cx="2443812" cy="1535113"/>
          </a:xfrm>
          <a:prstGeom prst="rect">
            <a:avLst/>
          </a:prstGeom>
          <a:ln>
            <a:noFill/>
          </a:ln>
        </p:spPr>
        <p:txBody>
          <a:bodyPr vert="horz" anchor="ctr">
            <a:normAutofit/>
          </a:bodyPr>
          <a:lstStyle>
            <a:lvl1pPr marL="0" indent="0">
              <a:spcBef>
                <a:spcPts val="400"/>
              </a:spcBef>
              <a:buNone/>
              <a:defRPr sz="2200">
                <a:solidFill>
                  <a:schemeClr val="tx1"/>
                </a:solidFill>
                <a:latin typeface="Calibri"/>
                <a:cs typeface="Calibri"/>
              </a:defRPr>
            </a:lvl1pPr>
            <a:lvl2pPr>
              <a:defRPr sz="1800">
                <a:latin typeface="Century Gothic"/>
                <a:cs typeface="Century Gothic"/>
              </a:defRPr>
            </a:lvl2pPr>
            <a:lvl3pPr>
              <a:defRPr sz="1800">
                <a:latin typeface="Century Gothic"/>
                <a:cs typeface="Century Gothic"/>
              </a:defRPr>
            </a:lvl3pPr>
            <a:lvl4pPr>
              <a:defRPr sz="1800">
                <a:latin typeface="Century Gothic"/>
                <a:cs typeface="Century Gothic"/>
              </a:defRPr>
            </a:lvl4pPr>
            <a:lvl5pPr>
              <a:defRPr sz="1800">
                <a:latin typeface="Century Gothic"/>
                <a:cs typeface="Century Gothic"/>
              </a:defRPr>
            </a:lvl5pPr>
          </a:lstStyle>
          <a:p>
            <a:pPr lvl="0"/>
            <a:r>
              <a:rPr lang="ta-IN" dirty="0" smtClean="0"/>
              <a:t>Zagreb</a:t>
            </a:r>
          </a:p>
          <a:p>
            <a:pPr lvl="0"/>
            <a:r>
              <a:rPr lang="ta-IN" dirty="0" smtClean="0"/>
              <a:t>29.09.2016.</a:t>
            </a:r>
          </a:p>
          <a:p>
            <a:pPr lvl="0"/>
            <a:r>
              <a:rPr lang="ta-IN" dirty="0" smtClean="0"/>
              <a:t>Hotel Antunović</a:t>
            </a:r>
            <a:endParaRPr lang="en-US" dirty="0"/>
          </a:p>
        </p:txBody>
      </p:sp>
      <p:pic>
        <p:nvPicPr>
          <p:cNvPr id="5" name="Picture 4" descr="pametni-300dpi.png"/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5274" y="2345888"/>
            <a:ext cx="445008" cy="783336"/>
          </a:xfrm>
          <a:prstGeom prst="rect">
            <a:avLst/>
          </a:prstGeom>
        </p:spPr>
      </p:pic>
      <p:pic>
        <p:nvPicPr>
          <p:cNvPr id="6" name="Picture 5" descr="poslovni-300dpi.png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64344" y="5357518"/>
            <a:ext cx="920496" cy="762000"/>
          </a:xfrm>
          <a:prstGeom prst="rect">
            <a:avLst/>
          </a:prstGeom>
        </p:spPr>
      </p:pic>
      <p:pic>
        <p:nvPicPr>
          <p:cNvPr id="7" name="Picture 6" descr="it-300dpi.png"/>
          <p:cNvPicPr>
            <a:picLocks noChangeAspect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9755" y="3718814"/>
            <a:ext cx="661416" cy="652272"/>
          </a:xfrm>
          <a:prstGeom prst="rect">
            <a:avLst/>
          </a:prstGeom>
        </p:spPr>
      </p:pic>
      <p:pic>
        <p:nvPicPr>
          <p:cNvPr id="8" name="Picture 7" descr="pametni-300dpi.png"/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79866" y="3644110"/>
            <a:ext cx="445008" cy="783336"/>
          </a:xfrm>
          <a:prstGeom prst="rect">
            <a:avLst/>
          </a:prstGeom>
        </p:spPr>
      </p:pic>
      <p:pic>
        <p:nvPicPr>
          <p:cNvPr id="11" name="Picture 10" descr="razvojni-300dpi.png"/>
          <p:cNvPicPr>
            <a:picLocks noChangeAspect="1"/>
          </p:cNvPicPr>
          <p:nvPr userDrawn="1"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76738" y="3667633"/>
            <a:ext cx="914400" cy="786384"/>
          </a:xfrm>
          <a:prstGeom prst="rect">
            <a:avLst/>
          </a:prstGeom>
        </p:spPr>
      </p:pic>
      <p:pic>
        <p:nvPicPr>
          <p:cNvPr id="3" name="Picture 2" descr="naslovna-300dpi.png"/>
          <p:cNvPicPr>
            <a:picLocks noChangeAspect="1"/>
          </p:cNvPicPr>
          <p:nvPr userDrawn="1"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94639" y="-20689"/>
            <a:ext cx="8856000" cy="68993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742571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aslov predavanj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 userDrawn="1"/>
        </p:nvSpPr>
        <p:spPr>
          <a:xfrm>
            <a:off x="468313" y="2143756"/>
            <a:ext cx="2666001" cy="1031811"/>
          </a:xfrm>
          <a:prstGeom prst="rect">
            <a:avLst/>
          </a:prstGeom>
          <a:solidFill>
            <a:srgbClr val="4EADE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ta-IN" sz="2200" dirty="0" smtClean="0">
                <a:solidFill>
                  <a:schemeClr val="bg1"/>
                </a:solidFill>
                <a:latin typeface="Calibri"/>
                <a:cs typeface="Calibri"/>
              </a:rPr>
              <a:t>Zagreb,</a:t>
            </a:r>
            <a:r>
              <a:rPr lang="ta-IN" sz="2200" baseline="0" dirty="0" smtClean="0">
                <a:solidFill>
                  <a:schemeClr val="bg1"/>
                </a:solidFill>
                <a:latin typeface="Calibri"/>
                <a:cs typeface="Calibri"/>
              </a:rPr>
              <a:t> </a:t>
            </a:r>
            <a:r>
              <a:rPr lang="ta-IN" sz="2200" dirty="0" smtClean="0">
                <a:solidFill>
                  <a:schemeClr val="bg1"/>
                </a:solidFill>
                <a:latin typeface="Calibri"/>
                <a:cs typeface="Calibri"/>
              </a:rPr>
              <a:t>29.09.2016.</a:t>
            </a:r>
            <a:endParaRPr lang="hr-HR" sz="2200" dirty="0">
              <a:solidFill>
                <a:schemeClr val="bg1"/>
              </a:solidFill>
              <a:latin typeface="Calibri"/>
              <a:cs typeface="Calibri"/>
            </a:endParaRPr>
          </a:p>
        </p:txBody>
      </p:sp>
      <p:sp>
        <p:nvSpPr>
          <p:cNvPr id="16" name="Rectangle 15"/>
          <p:cNvSpPr/>
          <p:nvPr userDrawn="1"/>
        </p:nvSpPr>
        <p:spPr>
          <a:xfrm>
            <a:off x="1872301" y="4983197"/>
            <a:ext cx="1260000" cy="1533525"/>
          </a:xfrm>
          <a:prstGeom prst="rect">
            <a:avLst/>
          </a:prstGeom>
          <a:solidFill>
            <a:srgbClr val="FAA5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hr-HR" dirty="0"/>
          </a:p>
        </p:txBody>
      </p:sp>
      <p:sp>
        <p:nvSpPr>
          <p:cNvPr id="12" name="Rectangle 11"/>
          <p:cNvSpPr/>
          <p:nvPr userDrawn="1"/>
        </p:nvSpPr>
        <p:spPr>
          <a:xfrm>
            <a:off x="470538" y="4983197"/>
            <a:ext cx="1260000" cy="1533525"/>
          </a:xfrm>
          <a:prstGeom prst="rect">
            <a:avLst/>
          </a:prstGeom>
          <a:solidFill>
            <a:srgbClr val="29ADE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hr-HR" dirty="0"/>
          </a:p>
        </p:txBody>
      </p:sp>
      <p:sp>
        <p:nvSpPr>
          <p:cNvPr id="14" name="Rectangle 13"/>
          <p:cNvSpPr/>
          <p:nvPr userDrawn="1"/>
        </p:nvSpPr>
        <p:spPr>
          <a:xfrm>
            <a:off x="466525" y="3307893"/>
            <a:ext cx="1260000" cy="1533525"/>
          </a:xfrm>
          <a:prstGeom prst="rect">
            <a:avLst/>
          </a:prstGeom>
          <a:solidFill>
            <a:srgbClr val="6DBE4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hr-HR" dirty="0"/>
          </a:p>
        </p:txBody>
      </p:sp>
      <p:sp>
        <p:nvSpPr>
          <p:cNvPr id="10" name="Rectangle 9"/>
          <p:cNvSpPr/>
          <p:nvPr userDrawn="1"/>
        </p:nvSpPr>
        <p:spPr>
          <a:xfrm>
            <a:off x="1880988" y="3307893"/>
            <a:ext cx="1260000" cy="1533525"/>
          </a:xfrm>
          <a:prstGeom prst="rect">
            <a:avLst/>
          </a:prstGeom>
          <a:solidFill>
            <a:srgbClr val="2F408C"/>
          </a:solidFill>
          <a:ln>
            <a:solidFill>
              <a:srgbClr val="456AA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hr-HR" dirty="0"/>
          </a:p>
        </p:txBody>
      </p:sp>
      <p:pic>
        <p:nvPicPr>
          <p:cNvPr id="27" name="Picture 26" descr="mobilityday10-logo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50411" y="472990"/>
            <a:ext cx="4304314" cy="1194811"/>
          </a:xfrm>
          <a:prstGeom prst="rect">
            <a:avLst/>
          </a:prstGeom>
        </p:spPr>
      </p:pic>
      <p:sp>
        <p:nvSpPr>
          <p:cNvPr id="33" name="Rectangle 32"/>
          <p:cNvSpPr/>
          <p:nvPr userDrawn="1"/>
        </p:nvSpPr>
        <p:spPr>
          <a:xfrm>
            <a:off x="465812" y="468385"/>
            <a:ext cx="1260000" cy="1533525"/>
          </a:xfrm>
          <a:prstGeom prst="rect">
            <a:avLst/>
          </a:prstGeom>
          <a:solidFill>
            <a:srgbClr val="2F408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hr-HR" dirty="0"/>
          </a:p>
        </p:txBody>
      </p:sp>
      <p:sp>
        <p:nvSpPr>
          <p:cNvPr id="31" name="Rectangle 30"/>
          <p:cNvSpPr/>
          <p:nvPr userDrawn="1"/>
        </p:nvSpPr>
        <p:spPr>
          <a:xfrm>
            <a:off x="1880275" y="468385"/>
            <a:ext cx="1260000" cy="1533525"/>
          </a:xfrm>
          <a:prstGeom prst="rect">
            <a:avLst/>
          </a:prstGeom>
          <a:solidFill>
            <a:srgbClr val="EEBC0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hr-HR" dirty="0"/>
          </a:p>
        </p:txBody>
      </p:sp>
      <p:sp>
        <p:nvSpPr>
          <p:cNvPr id="38" name="Text Placeholder 37"/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3386138" y="2149739"/>
            <a:ext cx="5246346" cy="1004317"/>
          </a:xfrm>
          <a:prstGeom prst="rect">
            <a:avLst/>
          </a:prstGeom>
        </p:spPr>
        <p:txBody>
          <a:bodyPr vert="horz" anchor="b"/>
          <a:lstStyle>
            <a:lvl1pPr marL="0" indent="0">
              <a:buNone/>
              <a:defRPr sz="3200" baseline="0"/>
            </a:lvl1pPr>
          </a:lstStyle>
          <a:p>
            <a:pPr lvl="0"/>
            <a:r>
              <a:rPr lang="ta-IN" dirty="0" smtClean="0"/>
              <a:t>Ime i prezime autora</a:t>
            </a:r>
            <a:endParaRPr lang="en-US" dirty="0"/>
          </a:p>
        </p:txBody>
      </p:sp>
      <p:sp>
        <p:nvSpPr>
          <p:cNvPr id="40" name="Text Placeholder 39"/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3386590" y="3311761"/>
            <a:ext cx="5244430" cy="3203858"/>
          </a:xfrm>
          <a:prstGeom prst="rect">
            <a:avLst/>
          </a:prstGeom>
        </p:spPr>
        <p:txBody>
          <a:bodyPr vert="horz"/>
          <a:lstStyle>
            <a:lvl1pPr marL="0" indent="0">
              <a:buNone/>
              <a:defRPr sz="4000" b="1">
                <a:latin typeface="Calibri"/>
                <a:cs typeface="Calibri"/>
              </a:defRPr>
            </a:lvl1pPr>
          </a:lstStyle>
          <a:p>
            <a:pPr lvl="0"/>
            <a:r>
              <a:rPr lang="ta-IN" dirty="0" smtClean="0"/>
              <a:t>Naslov</a:t>
            </a:r>
          </a:p>
        </p:txBody>
      </p:sp>
      <p:pic>
        <p:nvPicPr>
          <p:cNvPr id="28" name="Picture 27" descr="poslovni-300dpi.png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16592" y="3750655"/>
            <a:ext cx="782784" cy="648000"/>
          </a:xfrm>
          <a:prstGeom prst="rect">
            <a:avLst/>
          </a:prstGeom>
        </p:spPr>
      </p:pic>
      <p:pic>
        <p:nvPicPr>
          <p:cNvPr id="29" name="Picture 28" descr="it-300dpi.png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3760" y="5425959"/>
            <a:ext cx="657083" cy="648000"/>
          </a:xfrm>
          <a:prstGeom prst="rect">
            <a:avLst/>
          </a:prstGeom>
        </p:spPr>
      </p:pic>
      <p:pic>
        <p:nvPicPr>
          <p:cNvPr id="30" name="Picture 29" descr="razvojni-300dpi.png"/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1561" y="3714656"/>
            <a:ext cx="837209" cy="719999"/>
          </a:xfrm>
          <a:prstGeom prst="rect">
            <a:avLst/>
          </a:prstGeom>
        </p:spPr>
      </p:pic>
      <p:pic>
        <p:nvPicPr>
          <p:cNvPr id="32" name="Picture 31" descr="pametni-300dpi.png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5073" y="5389960"/>
            <a:ext cx="409027" cy="719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5215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onzor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" name="Picture 50" descr="ALGEBRA-cmyk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5123" y="5291273"/>
            <a:ext cx="1290088" cy="674071"/>
          </a:xfrm>
          <a:prstGeom prst="rect">
            <a:avLst/>
          </a:prstGeom>
        </p:spPr>
      </p:pic>
      <p:pic>
        <p:nvPicPr>
          <p:cNvPr id="59" name="Picture 58" descr="Akcija-cmyk.jpg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0208" y="5235235"/>
            <a:ext cx="786146" cy="786146"/>
          </a:xfrm>
          <a:prstGeom prst="rect">
            <a:avLst/>
          </a:prstGeom>
        </p:spPr>
      </p:pic>
      <p:pic>
        <p:nvPicPr>
          <p:cNvPr id="58" name="Picture 57" descr="cropc.jpg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6785" y="4031895"/>
            <a:ext cx="1593749" cy="991762"/>
          </a:xfrm>
          <a:prstGeom prst="rect">
            <a:avLst/>
          </a:prstGeom>
        </p:spPr>
      </p:pic>
      <p:grpSp>
        <p:nvGrpSpPr>
          <p:cNvPr id="66" name="Group 65"/>
          <p:cNvGrpSpPr/>
          <p:nvPr userDrawn="1"/>
        </p:nvGrpSpPr>
        <p:grpSpPr>
          <a:xfrm>
            <a:off x="347496" y="6085548"/>
            <a:ext cx="1934012" cy="539515"/>
            <a:chOff x="347496" y="6085548"/>
            <a:chExt cx="1934012" cy="539515"/>
          </a:xfrm>
        </p:grpSpPr>
        <p:grpSp>
          <p:nvGrpSpPr>
            <p:cNvPr id="64" name="Group 63"/>
            <p:cNvGrpSpPr/>
            <p:nvPr userDrawn="1"/>
          </p:nvGrpSpPr>
          <p:grpSpPr>
            <a:xfrm>
              <a:off x="1838223" y="6085548"/>
              <a:ext cx="443285" cy="539515"/>
              <a:chOff x="1345063" y="6085063"/>
              <a:chExt cx="443285" cy="539515"/>
            </a:xfrm>
          </p:grpSpPr>
          <p:sp>
            <p:nvSpPr>
              <p:cNvPr id="15" name="Rectangle 14"/>
              <p:cNvSpPr/>
              <p:nvPr userDrawn="1"/>
            </p:nvSpPr>
            <p:spPr>
              <a:xfrm>
                <a:off x="1345063" y="6085063"/>
                <a:ext cx="443285" cy="539515"/>
              </a:xfrm>
              <a:prstGeom prst="rect">
                <a:avLst/>
              </a:prstGeom>
              <a:solidFill>
                <a:srgbClr val="29ADE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hr-HR" dirty="0"/>
              </a:p>
            </p:txBody>
          </p:sp>
          <p:pic>
            <p:nvPicPr>
              <p:cNvPr id="19" name="Picture 18" descr="pametni-300dpi.png"/>
              <p:cNvPicPr>
                <a:picLocks noChangeAspect="1"/>
              </p:cNvPicPr>
              <p:nvPr userDrawn="1"/>
            </p:nvPicPr>
            <p:blipFill>
              <a:blip r:embed="rId5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488426" y="6220159"/>
                <a:ext cx="156560" cy="275588"/>
              </a:xfrm>
              <a:prstGeom prst="rect">
                <a:avLst/>
              </a:prstGeom>
            </p:spPr>
          </p:pic>
        </p:grpSp>
        <p:grpSp>
          <p:nvGrpSpPr>
            <p:cNvPr id="62" name="Group 61"/>
            <p:cNvGrpSpPr/>
            <p:nvPr userDrawn="1"/>
          </p:nvGrpSpPr>
          <p:grpSpPr>
            <a:xfrm>
              <a:off x="347496" y="6085548"/>
              <a:ext cx="443285" cy="539515"/>
              <a:chOff x="846319" y="6085063"/>
              <a:chExt cx="443285" cy="539515"/>
            </a:xfrm>
          </p:grpSpPr>
          <p:sp>
            <p:nvSpPr>
              <p:cNvPr id="16" name="Rectangle 15"/>
              <p:cNvSpPr/>
              <p:nvPr userDrawn="1"/>
            </p:nvSpPr>
            <p:spPr>
              <a:xfrm>
                <a:off x="846319" y="6085063"/>
                <a:ext cx="443285" cy="539515"/>
              </a:xfrm>
              <a:prstGeom prst="rect">
                <a:avLst/>
              </a:prstGeom>
              <a:solidFill>
                <a:srgbClr val="2F408C"/>
              </a:solidFill>
              <a:ln>
                <a:solidFill>
                  <a:srgbClr val="456AA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hr-HR" dirty="0"/>
              </a:p>
            </p:txBody>
          </p:sp>
          <p:pic>
            <p:nvPicPr>
              <p:cNvPr id="17" name="Picture 16" descr="poslovni-300dpi.png"/>
              <p:cNvPicPr>
                <a:picLocks noChangeAspect="1"/>
              </p:cNvPicPr>
              <p:nvPr userDrawn="1"/>
            </p:nvPicPr>
            <p:blipFill>
              <a:blip r:embed="rId6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06040" y="6223912"/>
                <a:ext cx="323843" cy="268082"/>
              </a:xfrm>
              <a:prstGeom prst="rect">
                <a:avLst/>
              </a:prstGeom>
            </p:spPr>
          </p:pic>
        </p:grpSp>
        <p:grpSp>
          <p:nvGrpSpPr>
            <p:cNvPr id="65" name="Group 64"/>
            <p:cNvGrpSpPr/>
            <p:nvPr userDrawn="1"/>
          </p:nvGrpSpPr>
          <p:grpSpPr>
            <a:xfrm>
              <a:off x="1341314" y="6085548"/>
              <a:ext cx="443285" cy="539515"/>
              <a:chOff x="1838223" y="6085063"/>
              <a:chExt cx="443285" cy="539515"/>
            </a:xfrm>
          </p:grpSpPr>
          <p:sp>
            <p:nvSpPr>
              <p:cNvPr id="14" name="Rectangle 13"/>
              <p:cNvSpPr/>
              <p:nvPr userDrawn="1"/>
            </p:nvSpPr>
            <p:spPr>
              <a:xfrm>
                <a:off x="1838223" y="6085063"/>
                <a:ext cx="443285" cy="539515"/>
              </a:xfrm>
              <a:prstGeom prst="rect">
                <a:avLst/>
              </a:prstGeom>
              <a:solidFill>
                <a:srgbClr val="FAA51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hr-HR" dirty="0"/>
              </a:p>
            </p:txBody>
          </p:sp>
          <p:pic>
            <p:nvPicPr>
              <p:cNvPr id="18" name="Picture 17" descr="it-300dpi.png"/>
              <p:cNvPicPr>
                <a:picLocks noChangeAspect="1"/>
              </p:cNvPicPr>
              <p:nvPr userDrawn="1"/>
            </p:nvPicPr>
            <p:blipFill>
              <a:blip r:embed="rId7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943518" y="6243214"/>
                <a:ext cx="232695" cy="229478"/>
              </a:xfrm>
              <a:prstGeom prst="rect">
                <a:avLst/>
              </a:prstGeom>
            </p:spPr>
          </p:pic>
        </p:grpSp>
        <p:grpSp>
          <p:nvGrpSpPr>
            <p:cNvPr id="63" name="Group 62"/>
            <p:cNvGrpSpPr/>
            <p:nvPr userDrawn="1"/>
          </p:nvGrpSpPr>
          <p:grpSpPr>
            <a:xfrm>
              <a:off x="844405" y="6085548"/>
              <a:ext cx="443285" cy="539515"/>
              <a:chOff x="347496" y="6085548"/>
              <a:chExt cx="443285" cy="539515"/>
            </a:xfrm>
          </p:grpSpPr>
          <p:sp>
            <p:nvSpPr>
              <p:cNvPr id="20" name="Rectangle 19"/>
              <p:cNvSpPr/>
              <p:nvPr userDrawn="1"/>
            </p:nvSpPr>
            <p:spPr>
              <a:xfrm>
                <a:off x="347496" y="6085548"/>
                <a:ext cx="443285" cy="539515"/>
              </a:xfrm>
              <a:prstGeom prst="rect">
                <a:avLst/>
              </a:prstGeom>
              <a:solidFill>
                <a:srgbClr val="6DBE4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hr-HR" dirty="0"/>
              </a:p>
            </p:txBody>
          </p:sp>
          <p:pic>
            <p:nvPicPr>
              <p:cNvPr id="21" name="Picture 20" descr="razvojni-300dpi.png"/>
              <p:cNvPicPr>
                <a:picLocks noChangeAspect="1"/>
              </p:cNvPicPr>
              <p:nvPr userDrawn="1"/>
            </p:nvPicPr>
            <p:blipFill>
              <a:blip r:embed="rId8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08289" y="6216975"/>
                <a:ext cx="321698" cy="276661"/>
              </a:xfrm>
              <a:prstGeom prst="rect">
                <a:avLst/>
              </a:prstGeom>
            </p:spPr>
          </p:pic>
        </p:grpSp>
      </p:grpSp>
      <p:pic>
        <p:nvPicPr>
          <p:cNvPr id="22" name="Picture 21" descr="mobilityday10-logo.png"/>
          <p:cNvPicPr>
            <a:picLocks noChangeAspect="1"/>
          </p:cNvPicPr>
          <p:nvPr userDrawn="1"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71857" y="6063850"/>
            <a:ext cx="1945354" cy="540000"/>
          </a:xfrm>
          <a:prstGeom prst="rect">
            <a:avLst/>
          </a:prstGeom>
        </p:spPr>
      </p:pic>
      <p:sp>
        <p:nvSpPr>
          <p:cNvPr id="25" name="TextBox 24"/>
          <p:cNvSpPr txBox="1"/>
          <p:nvPr userDrawn="1"/>
        </p:nvSpPr>
        <p:spPr>
          <a:xfrm>
            <a:off x="333037" y="1576910"/>
            <a:ext cx="8496000" cy="307777"/>
          </a:xfrm>
          <a:prstGeom prst="rect">
            <a:avLst/>
          </a:prstGeom>
          <a:solidFill>
            <a:srgbClr val="EEBD0E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ta-IN" sz="1400" dirty="0" smtClean="0">
                <a:solidFill>
                  <a:srgbClr val="0D0D0D"/>
                </a:solidFill>
                <a:latin typeface="Calibri"/>
                <a:cs typeface="Calibri"/>
              </a:rPr>
              <a:t>POKROVITELJI</a:t>
            </a:r>
            <a:endParaRPr lang="en-US" sz="1400" dirty="0">
              <a:solidFill>
                <a:srgbClr val="0D0D0D"/>
              </a:solidFill>
              <a:latin typeface="Calibri"/>
              <a:cs typeface="Calibri"/>
            </a:endParaRPr>
          </a:p>
        </p:txBody>
      </p:sp>
      <p:sp>
        <p:nvSpPr>
          <p:cNvPr id="28" name="TextBox 27"/>
          <p:cNvSpPr txBox="1"/>
          <p:nvPr userDrawn="1"/>
        </p:nvSpPr>
        <p:spPr>
          <a:xfrm>
            <a:off x="324000" y="4914931"/>
            <a:ext cx="1979998" cy="307777"/>
          </a:xfrm>
          <a:prstGeom prst="rect">
            <a:avLst/>
          </a:prstGeom>
          <a:solidFill>
            <a:srgbClr val="EEBD0E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ta-IN" sz="1400" dirty="0" smtClean="0">
                <a:solidFill>
                  <a:srgbClr val="0D0D0D"/>
                </a:solidFill>
                <a:latin typeface="Calibri"/>
                <a:cs typeface="Calibri"/>
              </a:rPr>
              <a:t>AKADEMSKI PARTNERI</a:t>
            </a:r>
            <a:endParaRPr lang="en-US" sz="1400" dirty="0">
              <a:solidFill>
                <a:srgbClr val="0D0D0D"/>
              </a:solidFill>
              <a:latin typeface="Calibri"/>
              <a:cs typeface="Calibri"/>
            </a:endParaRPr>
          </a:p>
        </p:txBody>
      </p:sp>
      <p:sp>
        <p:nvSpPr>
          <p:cNvPr id="27" name="TextBox 26"/>
          <p:cNvSpPr txBox="1"/>
          <p:nvPr userDrawn="1"/>
        </p:nvSpPr>
        <p:spPr>
          <a:xfrm>
            <a:off x="2427281" y="4914931"/>
            <a:ext cx="1872000" cy="307777"/>
          </a:xfrm>
          <a:prstGeom prst="rect">
            <a:avLst/>
          </a:prstGeom>
          <a:solidFill>
            <a:srgbClr val="EEBD0E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ta-IN" sz="1400" dirty="0" smtClean="0">
                <a:solidFill>
                  <a:srgbClr val="0D0D0D"/>
                </a:solidFill>
                <a:latin typeface="Calibri"/>
                <a:cs typeface="Calibri"/>
              </a:rPr>
              <a:t>DIGITALNI PARTNER</a:t>
            </a:r>
            <a:endParaRPr lang="en-US" sz="1400" dirty="0">
              <a:solidFill>
                <a:srgbClr val="0D0D0D"/>
              </a:solidFill>
              <a:latin typeface="Calibri"/>
              <a:cs typeface="Calibri"/>
            </a:endParaRPr>
          </a:p>
        </p:txBody>
      </p:sp>
      <p:sp>
        <p:nvSpPr>
          <p:cNvPr id="29" name="TextBox 28"/>
          <p:cNvSpPr txBox="1"/>
          <p:nvPr userDrawn="1"/>
        </p:nvSpPr>
        <p:spPr>
          <a:xfrm>
            <a:off x="4437037" y="4914931"/>
            <a:ext cx="4392000" cy="307777"/>
          </a:xfrm>
          <a:prstGeom prst="rect">
            <a:avLst/>
          </a:prstGeom>
          <a:solidFill>
            <a:srgbClr val="EEBD0E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ta-IN" sz="1400" dirty="0" smtClean="0">
                <a:solidFill>
                  <a:srgbClr val="0D0D0D"/>
                </a:solidFill>
                <a:latin typeface="Calibri"/>
                <a:cs typeface="Calibri"/>
              </a:rPr>
              <a:t>PRIJATELJI</a:t>
            </a:r>
            <a:r>
              <a:rPr lang="ta-IN" sz="1400" baseline="0" dirty="0" smtClean="0">
                <a:solidFill>
                  <a:srgbClr val="0D0D0D"/>
                </a:solidFill>
                <a:latin typeface="Calibri"/>
                <a:cs typeface="Calibri"/>
              </a:rPr>
              <a:t> KONFERENCIJE</a:t>
            </a:r>
            <a:endParaRPr lang="en-US" sz="1400" dirty="0">
              <a:solidFill>
                <a:srgbClr val="0D0D0D"/>
              </a:solidFill>
              <a:latin typeface="Calibri"/>
              <a:cs typeface="Calibri"/>
            </a:endParaRPr>
          </a:p>
        </p:txBody>
      </p:sp>
      <p:sp>
        <p:nvSpPr>
          <p:cNvPr id="31" name="TextBox 30"/>
          <p:cNvSpPr txBox="1"/>
          <p:nvPr userDrawn="1"/>
        </p:nvSpPr>
        <p:spPr>
          <a:xfrm>
            <a:off x="322456" y="382556"/>
            <a:ext cx="2340000" cy="307777"/>
          </a:xfrm>
          <a:prstGeom prst="rect">
            <a:avLst/>
          </a:prstGeom>
          <a:solidFill>
            <a:srgbClr val="EEBD0E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ta-IN" sz="1400" dirty="0" smtClean="0">
                <a:solidFill>
                  <a:srgbClr val="0D0D0D"/>
                </a:solidFill>
                <a:latin typeface="Calibri"/>
                <a:cs typeface="Calibri"/>
              </a:rPr>
              <a:t>GENERALNI SPONZOR</a:t>
            </a:r>
            <a:endParaRPr lang="en-US" sz="1400" dirty="0">
              <a:solidFill>
                <a:srgbClr val="0D0D0D"/>
              </a:solidFill>
              <a:latin typeface="Calibri"/>
              <a:cs typeface="Calibri"/>
            </a:endParaRPr>
          </a:p>
        </p:txBody>
      </p:sp>
      <p:sp>
        <p:nvSpPr>
          <p:cNvPr id="32" name="TextBox 31"/>
          <p:cNvSpPr txBox="1"/>
          <p:nvPr userDrawn="1"/>
        </p:nvSpPr>
        <p:spPr>
          <a:xfrm>
            <a:off x="2787163" y="382556"/>
            <a:ext cx="2844000" cy="307777"/>
          </a:xfrm>
          <a:prstGeom prst="rect">
            <a:avLst/>
          </a:prstGeom>
          <a:solidFill>
            <a:srgbClr val="EEBD0E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ta-IN" sz="1400" dirty="0" smtClean="0">
                <a:solidFill>
                  <a:srgbClr val="0D0D0D"/>
                </a:solidFill>
                <a:latin typeface="Calibri"/>
                <a:cs typeface="Calibri"/>
              </a:rPr>
              <a:t>GENERALNI MEDIJSKI SPONZOR</a:t>
            </a:r>
            <a:endParaRPr lang="en-US" sz="1400" dirty="0">
              <a:solidFill>
                <a:srgbClr val="0D0D0D"/>
              </a:solidFill>
              <a:latin typeface="Calibri"/>
              <a:cs typeface="Calibri"/>
            </a:endParaRPr>
          </a:p>
        </p:txBody>
      </p:sp>
      <p:sp>
        <p:nvSpPr>
          <p:cNvPr id="33" name="TextBox 32"/>
          <p:cNvSpPr txBox="1"/>
          <p:nvPr userDrawn="1"/>
        </p:nvSpPr>
        <p:spPr>
          <a:xfrm>
            <a:off x="5769037" y="382556"/>
            <a:ext cx="3060000" cy="307777"/>
          </a:xfrm>
          <a:prstGeom prst="rect">
            <a:avLst/>
          </a:prstGeom>
          <a:solidFill>
            <a:srgbClr val="EEBD0E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ta-IN" sz="1400" dirty="0" smtClean="0">
                <a:solidFill>
                  <a:srgbClr val="0D0D0D"/>
                </a:solidFill>
                <a:latin typeface="Calibri"/>
                <a:cs typeface="Calibri"/>
              </a:rPr>
              <a:t>GLAVNI SPONZORI</a:t>
            </a:r>
            <a:endParaRPr lang="en-US" sz="1400" dirty="0">
              <a:solidFill>
                <a:srgbClr val="0D0D0D"/>
              </a:solidFill>
              <a:latin typeface="Calibri"/>
              <a:cs typeface="Calibri"/>
            </a:endParaRPr>
          </a:p>
        </p:txBody>
      </p:sp>
      <p:pic>
        <p:nvPicPr>
          <p:cNvPr id="2" name="Picture 1"/>
          <p:cNvPicPr>
            <a:picLocks noChangeAspect="1"/>
          </p:cNvPicPr>
          <p:nvPr userDrawn="1"/>
        </p:nvPicPr>
        <p:blipFill>
          <a:blip r:embed="rId10"/>
          <a:stretch>
            <a:fillRect/>
          </a:stretch>
        </p:blipFill>
        <p:spPr>
          <a:xfrm>
            <a:off x="4992210" y="6179162"/>
            <a:ext cx="1645867" cy="251998"/>
          </a:xfrm>
          <a:prstGeom prst="rect">
            <a:avLst/>
          </a:prstGeom>
        </p:spPr>
      </p:pic>
      <p:pic>
        <p:nvPicPr>
          <p:cNvPr id="3" name="Picture 2" descr="Citus.png"/>
          <p:cNvPicPr>
            <a:picLocks noChangeAspect="1"/>
          </p:cNvPicPr>
          <p:nvPr userDrawn="1"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6065" y="6089030"/>
            <a:ext cx="2411987" cy="531073"/>
          </a:xfrm>
          <a:prstGeom prst="rect">
            <a:avLst/>
          </a:prstGeom>
        </p:spPr>
      </p:pic>
      <p:pic>
        <p:nvPicPr>
          <p:cNvPr id="5" name="Picture 4" descr="HP-logo-CMYK.jpg"/>
          <p:cNvPicPr>
            <a:picLocks noChangeAspect="1"/>
          </p:cNvPicPr>
          <p:nvPr userDrawn="1"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90091" y="791338"/>
            <a:ext cx="684567" cy="684567"/>
          </a:xfrm>
          <a:prstGeom prst="rect">
            <a:avLst/>
          </a:prstGeom>
        </p:spPr>
      </p:pic>
      <p:pic>
        <p:nvPicPr>
          <p:cNvPr id="6" name="Picture 5" descr="tportal.jpg"/>
          <p:cNvPicPr>
            <a:picLocks noChangeAspect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72772" y="804386"/>
            <a:ext cx="1446475" cy="658471"/>
          </a:xfrm>
          <a:prstGeom prst="rect">
            <a:avLst/>
          </a:prstGeom>
        </p:spPr>
      </p:pic>
      <p:pic>
        <p:nvPicPr>
          <p:cNvPr id="8" name="Picture 7" descr="T HT logo.JPG"/>
          <p:cNvPicPr>
            <a:picLocks noChangeAspect="1"/>
          </p:cNvPicPr>
          <p:nvPr userDrawn="1"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55000" y="856429"/>
            <a:ext cx="908667" cy="554385"/>
          </a:xfrm>
          <a:prstGeom prst="rect">
            <a:avLst/>
          </a:prstGeom>
        </p:spPr>
      </p:pic>
      <p:pic>
        <p:nvPicPr>
          <p:cNvPr id="9" name="Picture 8" descr="konica_minolta-logo.jpg"/>
          <p:cNvPicPr>
            <a:picLocks noChangeAspect="1"/>
          </p:cNvPicPr>
          <p:nvPr userDrawn="1"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85806" y="886669"/>
            <a:ext cx="826463" cy="484435"/>
          </a:xfrm>
          <a:prstGeom prst="rect">
            <a:avLst/>
          </a:prstGeom>
        </p:spPr>
      </p:pic>
      <p:pic>
        <p:nvPicPr>
          <p:cNvPr id="10" name="Picture 9" descr="info-kod.jpg"/>
          <p:cNvPicPr>
            <a:picLocks noChangeAspect="1"/>
          </p:cNvPicPr>
          <p:nvPr userDrawn="1"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73913" y="902623"/>
            <a:ext cx="648000" cy="411162"/>
          </a:xfrm>
          <a:prstGeom prst="rect">
            <a:avLst/>
          </a:prstGeom>
        </p:spPr>
      </p:pic>
      <p:pic>
        <p:nvPicPr>
          <p:cNvPr id="11" name="Picture 10" descr="ineta.jpg"/>
          <p:cNvPicPr>
            <a:picLocks noChangeAspect="1"/>
          </p:cNvPicPr>
          <p:nvPr userDrawn="1"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2521" y="2005870"/>
            <a:ext cx="665202" cy="523352"/>
          </a:xfrm>
          <a:prstGeom prst="rect">
            <a:avLst/>
          </a:prstGeom>
        </p:spPr>
      </p:pic>
      <p:pic>
        <p:nvPicPr>
          <p:cNvPr id="12" name="Picture 11" descr="HUP_hr.jpg"/>
          <p:cNvPicPr>
            <a:picLocks noChangeAspect="1"/>
          </p:cNvPicPr>
          <p:nvPr userDrawn="1"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65026" y="2077957"/>
            <a:ext cx="1562215" cy="379179"/>
          </a:xfrm>
          <a:prstGeom prst="rect">
            <a:avLst/>
          </a:prstGeom>
        </p:spPr>
      </p:pic>
      <p:pic>
        <p:nvPicPr>
          <p:cNvPr id="23" name="Picture 22" descr="HAMAG-Bicro-logo-CMYK.jpg"/>
          <p:cNvPicPr>
            <a:picLocks noChangeAspect="1"/>
          </p:cNvPicPr>
          <p:nvPr userDrawn="1"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41367" y="2088441"/>
            <a:ext cx="1713398" cy="358211"/>
          </a:xfrm>
          <a:prstGeom prst="rect">
            <a:avLst/>
          </a:prstGeom>
        </p:spPr>
      </p:pic>
      <p:pic>
        <p:nvPicPr>
          <p:cNvPr id="24" name="Picture 23" descr="hgk-it.png"/>
          <p:cNvPicPr>
            <a:picLocks noChangeAspect="1"/>
          </p:cNvPicPr>
          <p:nvPr userDrawn="1"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7986" y="2067332"/>
            <a:ext cx="1481585" cy="400428"/>
          </a:xfrm>
          <a:prstGeom prst="rect">
            <a:avLst/>
          </a:prstGeom>
        </p:spPr>
      </p:pic>
      <p:pic>
        <p:nvPicPr>
          <p:cNvPr id="30" name="Picture 29" descr="raza-logo.jpg"/>
          <p:cNvPicPr>
            <a:picLocks noChangeAspect="1"/>
          </p:cNvPicPr>
          <p:nvPr userDrawn="1"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89834" y="2033525"/>
            <a:ext cx="1441270" cy="468042"/>
          </a:xfrm>
          <a:prstGeom prst="rect">
            <a:avLst/>
          </a:prstGeom>
        </p:spPr>
      </p:pic>
      <p:pic>
        <p:nvPicPr>
          <p:cNvPr id="34" name="Picture 33" descr="hotel-antunovic.jpeg"/>
          <p:cNvPicPr>
            <a:picLocks noChangeAspect="1"/>
          </p:cNvPicPr>
          <p:nvPr userDrawn="1"/>
        </p:nvPicPr>
        <p:blipFill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891" y="2988144"/>
            <a:ext cx="1380795" cy="807234"/>
          </a:xfrm>
          <a:prstGeom prst="rect">
            <a:avLst/>
          </a:prstGeom>
        </p:spPr>
      </p:pic>
      <p:pic>
        <p:nvPicPr>
          <p:cNvPr id="35" name="Picture 34" descr="avalon-logo-black.jpg"/>
          <p:cNvPicPr>
            <a:picLocks noChangeAspect="1"/>
          </p:cNvPicPr>
          <p:nvPr userDrawn="1"/>
        </p:nvPicPr>
        <p:blipFill>
          <a:blip r:embed="rId2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3004" y="3281292"/>
            <a:ext cx="886936" cy="328423"/>
          </a:xfrm>
          <a:prstGeom prst="rect">
            <a:avLst/>
          </a:prstGeom>
        </p:spPr>
      </p:pic>
      <p:pic>
        <p:nvPicPr>
          <p:cNvPr id="39" name="Picture 38" descr="EH.jpg"/>
          <p:cNvPicPr>
            <a:picLocks noChangeAspect="1"/>
          </p:cNvPicPr>
          <p:nvPr userDrawn="1"/>
        </p:nvPicPr>
        <p:blipFill>
          <a:blip r:embed="rId2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42834" y="3264474"/>
            <a:ext cx="1524003" cy="280417"/>
          </a:xfrm>
          <a:prstGeom prst="rect">
            <a:avLst/>
          </a:prstGeom>
        </p:spPr>
      </p:pic>
      <p:pic>
        <p:nvPicPr>
          <p:cNvPr id="40" name="Picture 39" descr="FINA.jpg"/>
          <p:cNvPicPr>
            <a:picLocks noChangeAspect="1"/>
          </p:cNvPicPr>
          <p:nvPr userDrawn="1"/>
        </p:nvPicPr>
        <p:blipFill>
          <a:blip r:embed="rId2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59731" y="3299588"/>
            <a:ext cx="1058275" cy="210189"/>
          </a:xfrm>
          <a:prstGeom prst="rect">
            <a:avLst/>
          </a:prstGeom>
        </p:spPr>
      </p:pic>
      <p:pic>
        <p:nvPicPr>
          <p:cNvPr id="41" name="Picture 40" descr="MSFT.jpg"/>
          <p:cNvPicPr>
            <a:picLocks noChangeAspect="1"/>
          </p:cNvPicPr>
          <p:nvPr userDrawn="1"/>
        </p:nvPicPr>
        <p:blipFill>
          <a:blip r:embed="rId2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10901" y="3254064"/>
            <a:ext cx="1412372" cy="301237"/>
          </a:xfrm>
          <a:prstGeom prst="rect">
            <a:avLst/>
          </a:prstGeom>
        </p:spPr>
      </p:pic>
      <p:pic>
        <p:nvPicPr>
          <p:cNvPr id="42" name="Picture 41" descr="opel logo final vektori-01.jpg"/>
          <p:cNvPicPr>
            <a:picLocks noChangeAspect="1"/>
          </p:cNvPicPr>
          <p:nvPr userDrawn="1"/>
        </p:nvPicPr>
        <p:blipFill>
          <a:blip r:embed="rId2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69132" y="3053021"/>
            <a:ext cx="717801" cy="717801"/>
          </a:xfrm>
          <a:prstGeom prst="rect">
            <a:avLst/>
          </a:prstGeom>
        </p:spPr>
      </p:pic>
      <p:pic>
        <p:nvPicPr>
          <p:cNvPr id="43" name="Picture 42" descr="semos_logo.jpg"/>
          <p:cNvPicPr>
            <a:picLocks noChangeAspect="1"/>
          </p:cNvPicPr>
          <p:nvPr userDrawn="1"/>
        </p:nvPicPr>
        <p:blipFill>
          <a:blip r:embed="rId2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92475" y="3103725"/>
            <a:ext cx="707137" cy="576073"/>
          </a:xfrm>
          <a:prstGeom prst="rect">
            <a:avLst/>
          </a:prstGeom>
        </p:spPr>
      </p:pic>
      <p:sp>
        <p:nvSpPr>
          <p:cNvPr id="37" name="TextBox 36"/>
          <p:cNvSpPr txBox="1"/>
          <p:nvPr userDrawn="1"/>
        </p:nvSpPr>
        <p:spPr>
          <a:xfrm>
            <a:off x="333037" y="3805506"/>
            <a:ext cx="8496000" cy="307777"/>
          </a:xfrm>
          <a:prstGeom prst="rect">
            <a:avLst/>
          </a:prstGeom>
          <a:solidFill>
            <a:srgbClr val="EEBD0E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ta-IN" sz="1400" dirty="0" smtClean="0">
                <a:solidFill>
                  <a:srgbClr val="0D0D0D"/>
                </a:solidFill>
                <a:latin typeface="Calibri"/>
                <a:cs typeface="Calibri"/>
              </a:rPr>
              <a:t>MEDIJSKI PARTNERI</a:t>
            </a:r>
            <a:endParaRPr lang="en-US" sz="1400" dirty="0">
              <a:solidFill>
                <a:srgbClr val="0D0D0D"/>
              </a:solidFill>
              <a:latin typeface="Calibri"/>
              <a:cs typeface="Calibri"/>
            </a:endParaRPr>
          </a:p>
        </p:txBody>
      </p:sp>
      <p:sp>
        <p:nvSpPr>
          <p:cNvPr id="26" name="TextBox 25"/>
          <p:cNvSpPr txBox="1"/>
          <p:nvPr userDrawn="1"/>
        </p:nvSpPr>
        <p:spPr>
          <a:xfrm>
            <a:off x="333037" y="2696082"/>
            <a:ext cx="8496000" cy="307777"/>
          </a:xfrm>
          <a:prstGeom prst="rect">
            <a:avLst/>
          </a:prstGeom>
          <a:solidFill>
            <a:srgbClr val="EEBD0E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ta-IN" sz="1400" dirty="0" smtClean="0">
                <a:solidFill>
                  <a:srgbClr val="0D0D0D"/>
                </a:solidFill>
                <a:latin typeface="Calibri"/>
                <a:cs typeface="Calibri"/>
              </a:rPr>
              <a:t>SPONZORI</a:t>
            </a:r>
            <a:endParaRPr lang="en-US" sz="1400" dirty="0">
              <a:solidFill>
                <a:srgbClr val="0D0D0D"/>
              </a:solidFill>
              <a:latin typeface="Calibri"/>
              <a:cs typeface="Calibri"/>
            </a:endParaRPr>
          </a:p>
        </p:txBody>
      </p:sp>
      <p:pic>
        <p:nvPicPr>
          <p:cNvPr id="46" name="Picture 45" descr="span.jpg"/>
          <p:cNvPicPr>
            <a:picLocks noChangeAspect="1"/>
          </p:cNvPicPr>
          <p:nvPr userDrawn="1"/>
        </p:nvPicPr>
        <p:blipFill>
          <a:blip r:embed="rId2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22563" y="5488465"/>
            <a:ext cx="936000" cy="299604"/>
          </a:xfrm>
          <a:prstGeom prst="rect">
            <a:avLst/>
          </a:prstGeom>
        </p:spPr>
      </p:pic>
      <p:pic>
        <p:nvPicPr>
          <p:cNvPr id="47" name="Picture 46" descr="MARINES_logo.jpg"/>
          <p:cNvPicPr>
            <a:picLocks noChangeAspect="1"/>
          </p:cNvPicPr>
          <p:nvPr userDrawn="1"/>
        </p:nvPicPr>
        <p:blipFill>
          <a:blip r:embed="rId3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38148" y="5567749"/>
            <a:ext cx="1152000" cy="141037"/>
          </a:xfrm>
          <a:prstGeom prst="rect">
            <a:avLst/>
          </a:prstGeom>
        </p:spPr>
      </p:pic>
      <p:pic>
        <p:nvPicPr>
          <p:cNvPr id="49" name="Picture 48" descr="pressclipping.png"/>
          <p:cNvPicPr>
            <a:picLocks noChangeAspect="1"/>
          </p:cNvPicPr>
          <p:nvPr userDrawn="1"/>
        </p:nvPicPr>
        <p:blipFill>
          <a:blip r:embed="rId3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9733" y="5536171"/>
            <a:ext cx="1189128" cy="204193"/>
          </a:xfrm>
          <a:prstGeom prst="rect">
            <a:avLst/>
          </a:prstGeom>
        </p:spPr>
      </p:pic>
      <p:pic>
        <p:nvPicPr>
          <p:cNvPr id="50" name="Picture 49" descr="racunalo-logo.jpg"/>
          <p:cNvPicPr>
            <a:picLocks noChangeAspect="1"/>
          </p:cNvPicPr>
          <p:nvPr userDrawn="1"/>
        </p:nvPicPr>
        <p:blipFill>
          <a:blip r:embed="rId3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1656" y="4401793"/>
            <a:ext cx="1008000" cy="282948"/>
          </a:xfrm>
          <a:prstGeom prst="rect">
            <a:avLst/>
          </a:prstGeom>
        </p:spPr>
      </p:pic>
      <p:pic>
        <p:nvPicPr>
          <p:cNvPr id="52" name="Picture 51" descr="trakoscan.jpg"/>
          <p:cNvPicPr>
            <a:picLocks noChangeAspect="1"/>
          </p:cNvPicPr>
          <p:nvPr userDrawn="1"/>
        </p:nvPicPr>
        <p:blipFill>
          <a:blip r:embed="rId3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8447" y="5356028"/>
            <a:ext cx="863999" cy="564479"/>
          </a:xfrm>
          <a:prstGeom prst="rect">
            <a:avLst/>
          </a:prstGeom>
        </p:spPr>
      </p:pic>
      <p:pic>
        <p:nvPicPr>
          <p:cNvPr id="54" name="Picture 53" descr="ictbiz_logo_2_cmyk.jpg"/>
          <p:cNvPicPr>
            <a:picLocks noChangeAspect="1"/>
          </p:cNvPicPr>
          <p:nvPr userDrawn="1"/>
        </p:nvPicPr>
        <p:blipFill>
          <a:blip r:embed="rId3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892" y="4242457"/>
            <a:ext cx="1088511" cy="510159"/>
          </a:xfrm>
          <a:prstGeom prst="rect">
            <a:avLst/>
          </a:prstGeom>
        </p:spPr>
      </p:pic>
      <p:pic>
        <p:nvPicPr>
          <p:cNvPr id="53" name="Picture 52" descr="IT Biz Crunch.jpg"/>
          <p:cNvPicPr>
            <a:picLocks noChangeAspect="1"/>
          </p:cNvPicPr>
          <p:nvPr userDrawn="1"/>
        </p:nvPicPr>
        <p:blipFill>
          <a:blip r:embed="rId3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3753" y="4277062"/>
            <a:ext cx="562504" cy="440949"/>
          </a:xfrm>
          <a:prstGeom prst="rect">
            <a:avLst/>
          </a:prstGeom>
        </p:spPr>
      </p:pic>
      <p:pic>
        <p:nvPicPr>
          <p:cNvPr id="55" name="Picture 54" descr="mobil.jpg"/>
          <p:cNvPicPr>
            <a:picLocks noChangeAspect="1"/>
          </p:cNvPicPr>
          <p:nvPr userDrawn="1"/>
        </p:nvPicPr>
        <p:blipFill>
          <a:blip r:embed="rId3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79607" y="4270012"/>
            <a:ext cx="922003" cy="414729"/>
          </a:xfrm>
          <a:prstGeom prst="rect">
            <a:avLst/>
          </a:prstGeom>
        </p:spPr>
      </p:pic>
      <p:pic>
        <p:nvPicPr>
          <p:cNvPr id="56" name="Picture 55" descr="Novi milenij logo.png"/>
          <p:cNvPicPr>
            <a:picLocks noChangeAspect="1"/>
          </p:cNvPicPr>
          <p:nvPr userDrawn="1"/>
        </p:nvPicPr>
        <p:blipFill>
          <a:blip r:embed="rId3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94960" y="4406119"/>
            <a:ext cx="1193346" cy="278622"/>
          </a:xfrm>
          <a:prstGeom prst="rect">
            <a:avLst/>
          </a:prstGeom>
        </p:spPr>
      </p:pic>
      <p:pic>
        <p:nvPicPr>
          <p:cNvPr id="57" name="Picture 56" descr="vidi_logo.png"/>
          <p:cNvPicPr>
            <a:picLocks noChangeAspect="1"/>
          </p:cNvPicPr>
          <p:nvPr userDrawn="1"/>
        </p:nvPicPr>
        <p:blipFill>
          <a:blip r:embed="rId3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83007" y="4369364"/>
            <a:ext cx="934999" cy="315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7500383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aslov i sadržaj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 flipV="1">
            <a:off x="325338" y="918720"/>
            <a:ext cx="8493324" cy="45719"/>
          </a:xfrm>
          <a:prstGeom prst="rect">
            <a:avLst/>
          </a:prstGeom>
          <a:solidFill>
            <a:srgbClr val="EEBC0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hr-HR" sz="2400" i="1" dirty="0">
              <a:solidFill>
                <a:schemeClr val="tx2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Segoe UI" panose="020B0502040204020203" pitchFamily="34" charset="0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23" name="Picture 22" descr="mobilityday10-logo.pn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71857" y="6063850"/>
            <a:ext cx="1945354" cy="540000"/>
          </a:xfrm>
          <a:prstGeom prst="rect">
            <a:avLst/>
          </a:prstGeom>
        </p:spPr>
      </p:pic>
      <p:sp>
        <p:nvSpPr>
          <p:cNvPr id="31" name="Title 30"/>
          <p:cNvSpPr>
            <a:spLocks noGrp="1"/>
          </p:cNvSpPr>
          <p:nvPr>
            <p:ph type="title" hasCustomPrompt="1"/>
          </p:nvPr>
        </p:nvSpPr>
        <p:spPr>
          <a:xfrm>
            <a:off x="338567" y="0"/>
            <a:ext cx="8466867" cy="941760"/>
          </a:xfrm>
        </p:spPr>
        <p:txBody>
          <a:bodyPr/>
          <a:lstStyle/>
          <a:p>
            <a:r>
              <a:rPr lang="ta-IN" dirty="0" smtClean="0"/>
              <a:t>Ubaci naslov</a:t>
            </a:r>
            <a:endParaRPr lang="en-US" dirty="0"/>
          </a:p>
        </p:txBody>
      </p:sp>
      <p:sp>
        <p:nvSpPr>
          <p:cNvPr id="33" name="Content Placeholder 32"/>
          <p:cNvSpPr>
            <a:spLocks noGrp="1"/>
          </p:cNvSpPr>
          <p:nvPr>
            <p:ph sz="quarter" idx="10" hasCustomPrompt="1"/>
          </p:nvPr>
        </p:nvSpPr>
        <p:spPr>
          <a:xfrm>
            <a:off x="324000" y="1157288"/>
            <a:ext cx="8496000" cy="4718050"/>
          </a:xfrm>
        </p:spPr>
        <p:txBody>
          <a:bodyPr/>
          <a:lstStyle>
            <a:lvl1pPr>
              <a:defRPr baseline="0"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ta-IN" dirty="0" smtClean="0"/>
              <a:t>Ubaci tekst ili grafičke materijale</a:t>
            </a:r>
          </a:p>
          <a:p>
            <a:pPr lvl="1"/>
            <a:r>
              <a:rPr lang="en-US" dirty="0" smtClean="0"/>
              <a:t>T</a:t>
            </a:r>
            <a:r>
              <a:rPr lang="ta-IN" dirty="0" smtClean="0"/>
              <a:t>ekst 2</a:t>
            </a:r>
          </a:p>
          <a:p>
            <a:pPr lvl="2"/>
            <a:r>
              <a:rPr lang="en-US" dirty="0" smtClean="0"/>
              <a:t>T</a:t>
            </a:r>
            <a:r>
              <a:rPr lang="ta-IN" dirty="0" smtClean="0"/>
              <a:t>ekst 3</a:t>
            </a:r>
          </a:p>
          <a:p>
            <a:pPr lvl="3"/>
            <a:r>
              <a:rPr lang="en-US" dirty="0" smtClean="0"/>
              <a:t>T</a:t>
            </a:r>
            <a:r>
              <a:rPr lang="ta-IN" dirty="0" smtClean="0"/>
              <a:t>ekst 4</a:t>
            </a:r>
          </a:p>
          <a:p>
            <a:pPr lvl="4"/>
            <a:r>
              <a:rPr lang="en-US" dirty="0" smtClean="0"/>
              <a:t>T</a:t>
            </a:r>
            <a:r>
              <a:rPr lang="ta-IN" dirty="0" smtClean="0"/>
              <a:t>ekst 5</a:t>
            </a:r>
            <a:endParaRPr lang="en-US" dirty="0"/>
          </a:p>
        </p:txBody>
      </p:sp>
      <p:grpSp>
        <p:nvGrpSpPr>
          <p:cNvPr id="40" name="Group 39"/>
          <p:cNvGrpSpPr/>
          <p:nvPr userDrawn="1"/>
        </p:nvGrpSpPr>
        <p:grpSpPr>
          <a:xfrm>
            <a:off x="347496" y="6085548"/>
            <a:ext cx="1934012" cy="539515"/>
            <a:chOff x="347496" y="6085548"/>
            <a:chExt cx="1934012" cy="539515"/>
          </a:xfrm>
        </p:grpSpPr>
        <p:grpSp>
          <p:nvGrpSpPr>
            <p:cNvPr id="41" name="Group 40"/>
            <p:cNvGrpSpPr/>
            <p:nvPr userDrawn="1"/>
          </p:nvGrpSpPr>
          <p:grpSpPr>
            <a:xfrm>
              <a:off x="1838223" y="6085548"/>
              <a:ext cx="443285" cy="539515"/>
              <a:chOff x="1345063" y="6085063"/>
              <a:chExt cx="443285" cy="539515"/>
            </a:xfrm>
          </p:grpSpPr>
          <p:sp>
            <p:nvSpPr>
              <p:cNvPr id="51" name="Rectangle 50"/>
              <p:cNvSpPr/>
              <p:nvPr userDrawn="1"/>
            </p:nvSpPr>
            <p:spPr>
              <a:xfrm>
                <a:off x="1345063" y="6085063"/>
                <a:ext cx="443285" cy="539515"/>
              </a:xfrm>
              <a:prstGeom prst="rect">
                <a:avLst/>
              </a:prstGeom>
              <a:solidFill>
                <a:srgbClr val="29ADE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hr-HR" dirty="0"/>
              </a:p>
            </p:txBody>
          </p:sp>
          <p:pic>
            <p:nvPicPr>
              <p:cNvPr id="52" name="Picture 51" descr="pametni-300dpi.png"/>
              <p:cNvPicPr>
                <a:picLocks noChangeAspect="1"/>
              </p:cNvPicPr>
              <p:nvPr userDrawn="1"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488426" y="6220159"/>
                <a:ext cx="156560" cy="275588"/>
              </a:xfrm>
              <a:prstGeom prst="rect">
                <a:avLst/>
              </a:prstGeom>
            </p:spPr>
          </p:pic>
        </p:grpSp>
        <p:grpSp>
          <p:nvGrpSpPr>
            <p:cNvPr id="42" name="Group 41"/>
            <p:cNvGrpSpPr/>
            <p:nvPr userDrawn="1"/>
          </p:nvGrpSpPr>
          <p:grpSpPr>
            <a:xfrm>
              <a:off x="347496" y="6085548"/>
              <a:ext cx="443285" cy="539515"/>
              <a:chOff x="846319" y="6085063"/>
              <a:chExt cx="443285" cy="539515"/>
            </a:xfrm>
          </p:grpSpPr>
          <p:sp>
            <p:nvSpPr>
              <p:cNvPr id="49" name="Rectangle 48"/>
              <p:cNvSpPr/>
              <p:nvPr userDrawn="1"/>
            </p:nvSpPr>
            <p:spPr>
              <a:xfrm>
                <a:off x="846319" y="6085063"/>
                <a:ext cx="443285" cy="539515"/>
              </a:xfrm>
              <a:prstGeom prst="rect">
                <a:avLst/>
              </a:prstGeom>
              <a:solidFill>
                <a:srgbClr val="2F408C"/>
              </a:solidFill>
              <a:ln>
                <a:solidFill>
                  <a:srgbClr val="456AA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hr-HR" dirty="0"/>
              </a:p>
            </p:txBody>
          </p:sp>
          <p:pic>
            <p:nvPicPr>
              <p:cNvPr id="50" name="Picture 49" descr="poslovni-300dpi.png"/>
              <p:cNvPicPr>
                <a:picLocks noChangeAspect="1"/>
              </p:cNvPicPr>
              <p:nvPr userDrawn="1"/>
            </p:nvPicPr>
            <p:blipFill>
              <a:blip r:embed="rId4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06040" y="6223912"/>
                <a:ext cx="323843" cy="268082"/>
              </a:xfrm>
              <a:prstGeom prst="rect">
                <a:avLst/>
              </a:prstGeom>
            </p:spPr>
          </p:pic>
        </p:grpSp>
        <p:grpSp>
          <p:nvGrpSpPr>
            <p:cNvPr id="43" name="Group 42"/>
            <p:cNvGrpSpPr/>
            <p:nvPr userDrawn="1"/>
          </p:nvGrpSpPr>
          <p:grpSpPr>
            <a:xfrm>
              <a:off x="1341314" y="6085548"/>
              <a:ext cx="443285" cy="539515"/>
              <a:chOff x="1838223" y="6085063"/>
              <a:chExt cx="443285" cy="539515"/>
            </a:xfrm>
          </p:grpSpPr>
          <p:sp>
            <p:nvSpPr>
              <p:cNvPr id="47" name="Rectangle 46"/>
              <p:cNvSpPr/>
              <p:nvPr userDrawn="1"/>
            </p:nvSpPr>
            <p:spPr>
              <a:xfrm>
                <a:off x="1838223" y="6085063"/>
                <a:ext cx="443285" cy="539515"/>
              </a:xfrm>
              <a:prstGeom prst="rect">
                <a:avLst/>
              </a:prstGeom>
              <a:solidFill>
                <a:srgbClr val="FAA51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hr-HR" dirty="0"/>
              </a:p>
            </p:txBody>
          </p:sp>
          <p:pic>
            <p:nvPicPr>
              <p:cNvPr id="48" name="Picture 47" descr="it-300dpi.png"/>
              <p:cNvPicPr>
                <a:picLocks noChangeAspect="1"/>
              </p:cNvPicPr>
              <p:nvPr userDrawn="1"/>
            </p:nvPicPr>
            <p:blipFill>
              <a:blip r:embed="rId5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943518" y="6243214"/>
                <a:ext cx="232695" cy="229478"/>
              </a:xfrm>
              <a:prstGeom prst="rect">
                <a:avLst/>
              </a:prstGeom>
            </p:spPr>
          </p:pic>
        </p:grpSp>
        <p:grpSp>
          <p:nvGrpSpPr>
            <p:cNvPr id="44" name="Group 43"/>
            <p:cNvGrpSpPr/>
            <p:nvPr userDrawn="1"/>
          </p:nvGrpSpPr>
          <p:grpSpPr>
            <a:xfrm>
              <a:off x="844405" y="6085548"/>
              <a:ext cx="443285" cy="539515"/>
              <a:chOff x="347496" y="6085548"/>
              <a:chExt cx="443285" cy="539515"/>
            </a:xfrm>
          </p:grpSpPr>
          <p:sp>
            <p:nvSpPr>
              <p:cNvPr id="45" name="Rectangle 44"/>
              <p:cNvSpPr/>
              <p:nvPr userDrawn="1"/>
            </p:nvSpPr>
            <p:spPr>
              <a:xfrm>
                <a:off x="347496" y="6085548"/>
                <a:ext cx="443285" cy="539515"/>
              </a:xfrm>
              <a:prstGeom prst="rect">
                <a:avLst/>
              </a:prstGeom>
              <a:solidFill>
                <a:srgbClr val="6DBE4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hr-HR" dirty="0"/>
              </a:p>
            </p:txBody>
          </p:sp>
          <p:pic>
            <p:nvPicPr>
              <p:cNvPr id="46" name="Picture 45" descr="razvojni-300dpi.png"/>
              <p:cNvPicPr>
                <a:picLocks noChangeAspect="1"/>
              </p:cNvPicPr>
              <p:nvPr userDrawn="1"/>
            </p:nvPicPr>
            <p:blipFill>
              <a:blip r:embed="rId6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08289" y="6216975"/>
                <a:ext cx="321698" cy="276661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246393215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aslov, sadržaj i slik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 flipV="1">
            <a:off x="325338" y="918720"/>
            <a:ext cx="8493324" cy="45719"/>
          </a:xfrm>
          <a:prstGeom prst="rect">
            <a:avLst/>
          </a:prstGeom>
          <a:solidFill>
            <a:srgbClr val="EEBC0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hr-HR" sz="2400" i="1" dirty="0">
              <a:solidFill>
                <a:schemeClr val="tx2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Segoe UI" panose="020B0502040204020203" pitchFamily="34" charset="0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23" name="Picture 22" descr="mobilityday10-logo.pn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71857" y="6063850"/>
            <a:ext cx="1945354" cy="540000"/>
          </a:xfrm>
          <a:prstGeom prst="rect">
            <a:avLst/>
          </a:prstGeom>
        </p:spPr>
      </p:pic>
      <p:sp>
        <p:nvSpPr>
          <p:cNvPr id="31" name="Title 30"/>
          <p:cNvSpPr>
            <a:spLocks noGrp="1"/>
          </p:cNvSpPr>
          <p:nvPr>
            <p:ph type="title" hasCustomPrompt="1"/>
          </p:nvPr>
        </p:nvSpPr>
        <p:spPr>
          <a:xfrm>
            <a:off x="338567" y="0"/>
            <a:ext cx="8466867" cy="941760"/>
          </a:xfrm>
        </p:spPr>
        <p:txBody>
          <a:bodyPr/>
          <a:lstStyle/>
          <a:p>
            <a:r>
              <a:rPr lang="ta-IN" dirty="0" smtClean="0"/>
              <a:t>Ubaci naslov</a:t>
            </a:r>
            <a:endParaRPr lang="en-US" dirty="0"/>
          </a:p>
        </p:txBody>
      </p:sp>
      <p:sp>
        <p:nvSpPr>
          <p:cNvPr id="33" name="Content Placeholder 32"/>
          <p:cNvSpPr>
            <a:spLocks noGrp="1"/>
          </p:cNvSpPr>
          <p:nvPr>
            <p:ph sz="quarter" idx="10" hasCustomPrompt="1"/>
          </p:nvPr>
        </p:nvSpPr>
        <p:spPr>
          <a:xfrm>
            <a:off x="4660816" y="1157288"/>
            <a:ext cx="4139999" cy="4718050"/>
          </a:xfrm>
        </p:spPr>
        <p:txBody>
          <a:bodyPr/>
          <a:lstStyle>
            <a:lvl3pPr>
              <a:defRPr/>
            </a:lvl3pPr>
          </a:lstStyle>
          <a:p>
            <a:pPr lvl="0"/>
            <a:r>
              <a:rPr lang="ta-IN" dirty="0" smtClean="0"/>
              <a:t>Ubaci tekst ili grafičke materijale</a:t>
            </a:r>
          </a:p>
          <a:p>
            <a:pPr lvl="1"/>
            <a:r>
              <a:rPr lang="ta-IN" dirty="0" smtClean="0"/>
              <a:t>Tekst</a:t>
            </a:r>
          </a:p>
          <a:p>
            <a:pPr lvl="2"/>
            <a:r>
              <a:rPr lang="en-US" dirty="0" smtClean="0"/>
              <a:t>T</a:t>
            </a:r>
            <a:r>
              <a:rPr lang="ta-IN" dirty="0" smtClean="0"/>
              <a:t>ekst</a:t>
            </a:r>
          </a:p>
          <a:p>
            <a:pPr lvl="3"/>
            <a:r>
              <a:rPr lang="ta-IN" dirty="0" smtClean="0"/>
              <a:t>Tekst</a:t>
            </a:r>
          </a:p>
          <a:p>
            <a:pPr lvl="4"/>
            <a:r>
              <a:rPr lang="ta-IN" dirty="0" smtClean="0"/>
              <a:t>Tekst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1" hasCustomPrompt="1"/>
          </p:nvPr>
        </p:nvSpPr>
        <p:spPr>
          <a:xfrm>
            <a:off x="338667" y="1166512"/>
            <a:ext cx="4139997" cy="4716000"/>
          </a:xfrm>
        </p:spPr>
        <p:txBody>
          <a:bodyPr/>
          <a:lstStyle/>
          <a:p>
            <a:r>
              <a:rPr lang="ta-IN" dirty="0" smtClean="0"/>
              <a:t>Ubaci sliku</a:t>
            </a:r>
            <a:endParaRPr lang="en-US" dirty="0"/>
          </a:p>
        </p:txBody>
      </p:sp>
      <p:grpSp>
        <p:nvGrpSpPr>
          <p:cNvPr id="16" name="Group 15"/>
          <p:cNvGrpSpPr/>
          <p:nvPr userDrawn="1"/>
        </p:nvGrpSpPr>
        <p:grpSpPr>
          <a:xfrm>
            <a:off x="347496" y="6085548"/>
            <a:ext cx="1934012" cy="539515"/>
            <a:chOff x="347496" y="6085548"/>
            <a:chExt cx="1934012" cy="539515"/>
          </a:xfrm>
        </p:grpSpPr>
        <p:grpSp>
          <p:nvGrpSpPr>
            <p:cNvPr id="17" name="Group 16"/>
            <p:cNvGrpSpPr/>
            <p:nvPr userDrawn="1"/>
          </p:nvGrpSpPr>
          <p:grpSpPr>
            <a:xfrm>
              <a:off x="1838223" y="6085548"/>
              <a:ext cx="443285" cy="539515"/>
              <a:chOff x="1345063" y="6085063"/>
              <a:chExt cx="443285" cy="539515"/>
            </a:xfrm>
          </p:grpSpPr>
          <p:sp>
            <p:nvSpPr>
              <p:cNvPr id="38" name="Rectangle 37"/>
              <p:cNvSpPr/>
              <p:nvPr userDrawn="1"/>
            </p:nvSpPr>
            <p:spPr>
              <a:xfrm>
                <a:off x="1345063" y="6085063"/>
                <a:ext cx="443285" cy="539515"/>
              </a:xfrm>
              <a:prstGeom prst="rect">
                <a:avLst/>
              </a:prstGeom>
              <a:solidFill>
                <a:srgbClr val="29ADE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hr-HR" dirty="0"/>
              </a:p>
            </p:txBody>
          </p:sp>
          <p:pic>
            <p:nvPicPr>
              <p:cNvPr id="39" name="Picture 38" descr="pametni-300dpi.png"/>
              <p:cNvPicPr>
                <a:picLocks noChangeAspect="1"/>
              </p:cNvPicPr>
              <p:nvPr userDrawn="1"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488426" y="6220159"/>
                <a:ext cx="156560" cy="275588"/>
              </a:xfrm>
              <a:prstGeom prst="rect">
                <a:avLst/>
              </a:prstGeom>
            </p:spPr>
          </p:pic>
        </p:grpSp>
        <p:grpSp>
          <p:nvGrpSpPr>
            <p:cNvPr id="18" name="Group 17"/>
            <p:cNvGrpSpPr/>
            <p:nvPr userDrawn="1"/>
          </p:nvGrpSpPr>
          <p:grpSpPr>
            <a:xfrm>
              <a:off x="347496" y="6085548"/>
              <a:ext cx="443285" cy="539515"/>
              <a:chOff x="846319" y="6085063"/>
              <a:chExt cx="443285" cy="539515"/>
            </a:xfrm>
          </p:grpSpPr>
          <p:sp>
            <p:nvSpPr>
              <p:cNvPr id="36" name="Rectangle 35"/>
              <p:cNvSpPr/>
              <p:nvPr userDrawn="1"/>
            </p:nvSpPr>
            <p:spPr>
              <a:xfrm>
                <a:off x="846319" y="6085063"/>
                <a:ext cx="443285" cy="539515"/>
              </a:xfrm>
              <a:prstGeom prst="rect">
                <a:avLst/>
              </a:prstGeom>
              <a:solidFill>
                <a:srgbClr val="2F408C"/>
              </a:solidFill>
              <a:ln>
                <a:solidFill>
                  <a:srgbClr val="456AA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hr-HR" dirty="0"/>
              </a:p>
            </p:txBody>
          </p:sp>
          <p:pic>
            <p:nvPicPr>
              <p:cNvPr id="37" name="Picture 36" descr="poslovni-300dpi.png"/>
              <p:cNvPicPr>
                <a:picLocks noChangeAspect="1"/>
              </p:cNvPicPr>
              <p:nvPr userDrawn="1"/>
            </p:nvPicPr>
            <p:blipFill>
              <a:blip r:embed="rId4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06040" y="6223912"/>
                <a:ext cx="323843" cy="268082"/>
              </a:xfrm>
              <a:prstGeom prst="rect">
                <a:avLst/>
              </a:prstGeom>
            </p:spPr>
          </p:pic>
        </p:grpSp>
        <p:grpSp>
          <p:nvGrpSpPr>
            <p:cNvPr id="19" name="Group 18"/>
            <p:cNvGrpSpPr/>
            <p:nvPr userDrawn="1"/>
          </p:nvGrpSpPr>
          <p:grpSpPr>
            <a:xfrm>
              <a:off x="1341314" y="6085548"/>
              <a:ext cx="443285" cy="539515"/>
              <a:chOff x="1838223" y="6085063"/>
              <a:chExt cx="443285" cy="539515"/>
            </a:xfrm>
          </p:grpSpPr>
          <p:sp>
            <p:nvSpPr>
              <p:cNvPr id="34" name="Rectangle 33"/>
              <p:cNvSpPr/>
              <p:nvPr userDrawn="1"/>
            </p:nvSpPr>
            <p:spPr>
              <a:xfrm>
                <a:off x="1838223" y="6085063"/>
                <a:ext cx="443285" cy="539515"/>
              </a:xfrm>
              <a:prstGeom prst="rect">
                <a:avLst/>
              </a:prstGeom>
              <a:solidFill>
                <a:srgbClr val="FAA51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hr-HR" dirty="0"/>
              </a:p>
            </p:txBody>
          </p:sp>
          <p:pic>
            <p:nvPicPr>
              <p:cNvPr id="35" name="Picture 34" descr="it-300dpi.png"/>
              <p:cNvPicPr>
                <a:picLocks noChangeAspect="1"/>
              </p:cNvPicPr>
              <p:nvPr userDrawn="1"/>
            </p:nvPicPr>
            <p:blipFill>
              <a:blip r:embed="rId5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943518" y="6243214"/>
                <a:ext cx="232695" cy="229478"/>
              </a:xfrm>
              <a:prstGeom prst="rect">
                <a:avLst/>
              </a:prstGeom>
            </p:spPr>
          </p:pic>
        </p:grpSp>
        <p:grpSp>
          <p:nvGrpSpPr>
            <p:cNvPr id="20" name="Group 19"/>
            <p:cNvGrpSpPr/>
            <p:nvPr userDrawn="1"/>
          </p:nvGrpSpPr>
          <p:grpSpPr>
            <a:xfrm>
              <a:off x="844405" y="6085548"/>
              <a:ext cx="443285" cy="539515"/>
              <a:chOff x="347496" y="6085548"/>
              <a:chExt cx="443285" cy="539515"/>
            </a:xfrm>
          </p:grpSpPr>
          <p:sp>
            <p:nvSpPr>
              <p:cNvPr id="21" name="Rectangle 20"/>
              <p:cNvSpPr/>
              <p:nvPr userDrawn="1"/>
            </p:nvSpPr>
            <p:spPr>
              <a:xfrm>
                <a:off x="347496" y="6085548"/>
                <a:ext cx="443285" cy="539515"/>
              </a:xfrm>
              <a:prstGeom prst="rect">
                <a:avLst/>
              </a:prstGeom>
              <a:solidFill>
                <a:srgbClr val="6DBE4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hr-HR" dirty="0"/>
              </a:p>
            </p:txBody>
          </p:sp>
          <p:pic>
            <p:nvPicPr>
              <p:cNvPr id="22" name="Picture 21" descr="razvojni-300dpi.png"/>
              <p:cNvPicPr>
                <a:picLocks noChangeAspect="1"/>
              </p:cNvPicPr>
              <p:nvPr userDrawn="1"/>
            </p:nvPicPr>
            <p:blipFill>
              <a:blip r:embed="rId6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08289" y="6216975"/>
                <a:ext cx="321698" cy="276661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1110238542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nketa - varijant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 flipV="1">
            <a:off x="325338" y="918720"/>
            <a:ext cx="8493324" cy="45719"/>
          </a:xfrm>
          <a:prstGeom prst="rect">
            <a:avLst/>
          </a:prstGeom>
          <a:solidFill>
            <a:srgbClr val="4EADE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hr-HR" sz="2400" i="1" dirty="0">
              <a:solidFill>
                <a:schemeClr val="tx2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Segoe UI" panose="020B0502040204020203" pitchFamily="34" charset="0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23" name="Picture 22" descr="mobilityday10-logo.pn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71857" y="6063850"/>
            <a:ext cx="1945354" cy="540000"/>
          </a:xfrm>
          <a:prstGeom prst="rect">
            <a:avLst/>
          </a:prstGeom>
        </p:spPr>
      </p:pic>
      <p:sp>
        <p:nvSpPr>
          <p:cNvPr id="31" name="Title 30"/>
          <p:cNvSpPr>
            <a:spLocks noGrp="1"/>
          </p:cNvSpPr>
          <p:nvPr>
            <p:ph type="title" hasCustomPrompt="1"/>
          </p:nvPr>
        </p:nvSpPr>
        <p:spPr>
          <a:xfrm>
            <a:off x="338567" y="977734"/>
            <a:ext cx="8466867" cy="1088612"/>
          </a:xfrm>
        </p:spPr>
        <p:txBody>
          <a:bodyPr anchor="ctr">
            <a:normAutofit/>
          </a:bodyPr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ta-IN" dirty="0" smtClean="0"/>
              <a:t>Naslov</a:t>
            </a:r>
            <a:br>
              <a:rPr lang="ta-IN" dirty="0" smtClean="0"/>
            </a:br>
            <a:r>
              <a:rPr lang="ta-IN" dirty="0" smtClean="0"/>
              <a:t>u dva reda</a:t>
            </a:r>
            <a:endParaRPr lang="en-US" dirty="0"/>
          </a:p>
        </p:txBody>
      </p:sp>
      <p:sp>
        <p:nvSpPr>
          <p:cNvPr id="33" name="Content Placeholder 32"/>
          <p:cNvSpPr>
            <a:spLocks noGrp="1"/>
          </p:cNvSpPr>
          <p:nvPr>
            <p:ph sz="quarter" idx="10" hasCustomPrompt="1"/>
          </p:nvPr>
        </p:nvSpPr>
        <p:spPr>
          <a:xfrm>
            <a:off x="324521" y="2247782"/>
            <a:ext cx="8494958" cy="3627556"/>
          </a:xfrm>
          <a:noFill/>
        </p:spPr>
        <p:txBody>
          <a:bodyPr/>
          <a:lstStyle>
            <a:lvl1pPr marL="0" indent="0"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ta-IN" dirty="0" smtClean="0"/>
              <a:t>opis</a:t>
            </a:r>
            <a:endParaRPr lang="en-US" dirty="0"/>
          </a:p>
        </p:txBody>
      </p:sp>
      <p:sp>
        <p:nvSpPr>
          <p:cNvPr id="5" name="TextBox 4"/>
          <p:cNvSpPr txBox="1"/>
          <p:nvPr userDrawn="1"/>
        </p:nvSpPr>
        <p:spPr>
          <a:xfrm>
            <a:off x="328306" y="216000"/>
            <a:ext cx="851006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a-IN" sz="4000" b="1" dirty="0" smtClean="0">
                <a:latin typeface="Calibri"/>
                <a:cs typeface="Calibri"/>
              </a:rPr>
              <a:t>Ankete</a:t>
            </a:r>
            <a:endParaRPr lang="en-US" sz="4000" b="1" dirty="0">
              <a:latin typeface="Calibri"/>
              <a:cs typeface="Calibri"/>
            </a:endParaRPr>
          </a:p>
        </p:txBody>
      </p:sp>
      <p:pic>
        <p:nvPicPr>
          <p:cNvPr id="35" name="Picture 34" descr="anketa-300dpi.png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23139" y="279902"/>
            <a:ext cx="730923" cy="936000"/>
          </a:xfrm>
          <a:prstGeom prst="rect">
            <a:avLst/>
          </a:prstGeom>
        </p:spPr>
      </p:pic>
      <p:grpSp>
        <p:nvGrpSpPr>
          <p:cNvPr id="17" name="Group 16"/>
          <p:cNvGrpSpPr/>
          <p:nvPr userDrawn="1"/>
        </p:nvGrpSpPr>
        <p:grpSpPr>
          <a:xfrm>
            <a:off x="347496" y="6085548"/>
            <a:ext cx="1934012" cy="539515"/>
            <a:chOff x="347496" y="6085548"/>
            <a:chExt cx="1934012" cy="539515"/>
          </a:xfrm>
        </p:grpSpPr>
        <p:grpSp>
          <p:nvGrpSpPr>
            <p:cNvPr id="18" name="Group 17"/>
            <p:cNvGrpSpPr/>
            <p:nvPr userDrawn="1"/>
          </p:nvGrpSpPr>
          <p:grpSpPr>
            <a:xfrm>
              <a:off x="1838223" y="6085548"/>
              <a:ext cx="443285" cy="539515"/>
              <a:chOff x="1345063" y="6085063"/>
              <a:chExt cx="443285" cy="539515"/>
            </a:xfrm>
          </p:grpSpPr>
          <p:sp>
            <p:nvSpPr>
              <p:cNvPr id="41" name="Rectangle 40"/>
              <p:cNvSpPr/>
              <p:nvPr userDrawn="1"/>
            </p:nvSpPr>
            <p:spPr>
              <a:xfrm>
                <a:off x="1345063" y="6085063"/>
                <a:ext cx="443285" cy="539515"/>
              </a:xfrm>
              <a:prstGeom prst="rect">
                <a:avLst/>
              </a:prstGeom>
              <a:solidFill>
                <a:srgbClr val="29ADE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hr-HR" dirty="0"/>
              </a:p>
            </p:txBody>
          </p:sp>
          <p:pic>
            <p:nvPicPr>
              <p:cNvPr id="42" name="Picture 41" descr="pametni-300dpi.png"/>
              <p:cNvPicPr>
                <a:picLocks noChangeAspect="1"/>
              </p:cNvPicPr>
              <p:nvPr userDrawn="1"/>
            </p:nvPicPr>
            <p:blipFill>
              <a:blip r:embed="rId4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488426" y="6220159"/>
                <a:ext cx="156560" cy="275588"/>
              </a:xfrm>
              <a:prstGeom prst="rect">
                <a:avLst/>
              </a:prstGeom>
            </p:spPr>
          </p:pic>
        </p:grpSp>
        <p:grpSp>
          <p:nvGrpSpPr>
            <p:cNvPr id="19" name="Group 18"/>
            <p:cNvGrpSpPr/>
            <p:nvPr userDrawn="1"/>
          </p:nvGrpSpPr>
          <p:grpSpPr>
            <a:xfrm>
              <a:off x="347496" y="6085548"/>
              <a:ext cx="443285" cy="539515"/>
              <a:chOff x="846319" y="6085063"/>
              <a:chExt cx="443285" cy="539515"/>
            </a:xfrm>
          </p:grpSpPr>
          <p:sp>
            <p:nvSpPr>
              <p:cNvPr id="39" name="Rectangle 38"/>
              <p:cNvSpPr/>
              <p:nvPr userDrawn="1"/>
            </p:nvSpPr>
            <p:spPr>
              <a:xfrm>
                <a:off x="846319" y="6085063"/>
                <a:ext cx="443285" cy="539515"/>
              </a:xfrm>
              <a:prstGeom prst="rect">
                <a:avLst/>
              </a:prstGeom>
              <a:solidFill>
                <a:srgbClr val="2F408C"/>
              </a:solidFill>
              <a:ln>
                <a:solidFill>
                  <a:srgbClr val="456AA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hr-HR" dirty="0"/>
              </a:p>
            </p:txBody>
          </p:sp>
          <p:pic>
            <p:nvPicPr>
              <p:cNvPr id="40" name="Picture 39" descr="poslovni-300dpi.png"/>
              <p:cNvPicPr>
                <a:picLocks noChangeAspect="1"/>
              </p:cNvPicPr>
              <p:nvPr userDrawn="1"/>
            </p:nvPicPr>
            <p:blipFill>
              <a:blip r:embed="rId5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06040" y="6223912"/>
                <a:ext cx="323843" cy="268082"/>
              </a:xfrm>
              <a:prstGeom prst="rect">
                <a:avLst/>
              </a:prstGeom>
            </p:spPr>
          </p:pic>
        </p:grpSp>
        <p:grpSp>
          <p:nvGrpSpPr>
            <p:cNvPr id="20" name="Group 19"/>
            <p:cNvGrpSpPr/>
            <p:nvPr userDrawn="1"/>
          </p:nvGrpSpPr>
          <p:grpSpPr>
            <a:xfrm>
              <a:off x="1341314" y="6085548"/>
              <a:ext cx="443285" cy="539515"/>
              <a:chOff x="1838223" y="6085063"/>
              <a:chExt cx="443285" cy="539515"/>
            </a:xfrm>
          </p:grpSpPr>
          <p:sp>
            <p:nvSpPr>
              <p:cNvPr id="37" name="Rectangle 36"/>
              <p:cNvSpPr/>
              <p:nvPr userDrawn="1"/>
            </p:nvSpPr>
            <p:spPr>
              <a:xfrm>
                <a:off x="1838223" y="6085063"/>
                <a:ext cx="443285" cy="539515"/>
              </a:xfrm>
              <a:prstGeom prst="rect">
                <a:avLst/>
              </a:prstGeom>
              <a:solidFill>
                <a:srgbClr val="FAA51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hr-HR" dirty="0"/>
              </a:p>
            </p:txBody>
          </p:sp>
          <p:pic>
            <p:nvPicPr>
              <p:cNvPr id="38" name="Picture 37" descr="it-300dpi.png"/>
              <p:cNvPicPr>
                <a:picLocks noChangeAspect="1"/>
              </p:cNvPicPr>
              <p:nvPr userDrawn="1"/>
            </p:nvPicPr>
            <p:blipFill>
              <a:blip r:embed="rId6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943518" y="6243214"/>
                <a:ext cx="232695" cy="229478"/>
              </a:xfrm>
              <a:prstGeom prst="rect">
                <a:avLst/>
              </a:prstGeom>
            </p:spPr>
          </p:pic>
        </p:grpSp>
        <p:grpSp>
          <p:nvGrpSpPr>
            <p:cNvPr id="21" name="Group 20"/>
            <p:cNvGrpSpPr/>
            <p:nvPr userDrawn="1"/>
          </p:nvGrpSpPr>
          <p:grpSpPr>
            <a:xfrm>
              <a:off x="844405" y="6085548"/>
              <a:ext cx="443285" cy="539515"/>
              <a:chOff x="347496" y="6085548"/>
              <a:chExt cx="443285" cy="539515"/>
            </a:xfrm>
          </p:grpSpPr>
          <p:sp>
            <p:nvSpPr>
              <p:cNvPr id="22" name="Rectangle 21"/>
              <p:cNvSpPr/>
              <p:nvPr userDrawn="1"/>
            </p:nvSpPr>
            <p:spPr>
              <a:xfrm>
                <a:off x="347496" y="6085548"/>
                <a:ext cx="443285" cy="539515"/>
              </a:xfrm>
              <a:prstGeom prst="rect">
                <a:avLst/>
              </a:prstGeom>
              <a:solidFill>
                <a:srgbClr val="6DBE4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hr-HR" dirty="0"/>
              </a:p>
            </p:txBody>
          </p:sp>
          <p:pic>
            <p:nvPicPr>
              <p:cNvPr id="36" name="Picture 35" descr="razvojni-300dpi.png"/>
              <p:cNvPicPr>
                <a:picLocks noChangeAspect="1"/>
              </p:cNvPicPr>
              <p:nvPr userDrawn="1"/>
            </p:nvPicPr>
            <p:blipFill>
              <a:blip r:embed="rId7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08289" y="6216975"/>
                <a:ext cx="321698" cy="276661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1481929227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raj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/>
          <p:cNvGrpSpPr/>
          <p:nvPr userDrawn="1"/>
        </p:nvGrpSpPr>
        <p:grpSpPr>
          <a:xfrm>
            <a:off x="7510463" y="4975158"/>
            <a:ext cx="1260000" cy="1533525"/>
            <a:chOff x="6108700" y="4956175"/>
            <a:chExt cx="1260000" cy="1533525"/>
          </a:xfrm>
        </p:grpSpPr>
        <p:sp>
          <p:nvSpPr>
            <p:cNvPr id="17" name="Rectangle 16"/>
            <p:cNvSpPr/>
            <p:nvPr userDrawn="1"/>
          </p:nvSpPr>
          <p:spPr>
            <a:xfrm>
              <a:off x="6108700" y="4956175"/>
              <a:ext cx="1260000" cy="1533525"/>
            </a:xfrm>
            <a:prstGeom prst="rect">
              <a:avLst/>
            </a:prstGeom>
            <a:solidFill>
              <a:srgbClr val="29ADE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hr-HR" dirty="0"/>
            </a:p>
          </p:txBody>
        </p:sp>
        <p:pic>
          <p:nvPicPr>
            <p:cNvPr id="37" name="Picture 36" descr="pametni-300dpi.png"/>
            <p:cNvPicPr>
              <a:picLocks noChangeAspect="1"/>
            </p:cNvPicPr>
            <p:nvPr userDrawn="1"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34187" y="5371842"/>
              <a:ext cx="409027" cy="719999"/>
            </a:xfrm>
            <a:prstGeom prst="rect">
              <a:avLst/>
            </a:prstGeom>
          </p:spPr>
        </p:pic>
      </p:grpSp>
      <p:sp>
        <p:nvSpPr>
          <p:cNvPr id="14" name="Rectangle 13"/>
          <p:cNvSpPr/>
          <p:nvPr userDrawn="1"/>
        </p:nvSpPr>
        <p:spPr>
          <a:xfrm>
            <a:off x="1886634" y="4975158"/>
            <a:ext cx="2655887" cy="1533525"/>
          </a:xfrm>
          <a:prstGeom prst="rect">
            <a:avLst/>
          </a:prstGeom>
          <a:solidFill>
            <a:srgbClr val="FAA5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2" algn="l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hr-HR" dirty="0">
              <a:solidFill>
                <a:schemeClr val="bg1"/>
              </a:solidFill>
            </a:endParaRPr>
          </a:p>
        </p:txBody>
      </p:sp>
      <p:pic>
        <p:nvPicPr>
          <p:cNvPr id="31" name="Picture 30" descr="mobilityday10-logo.png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66149" y="319862"/>
            <a:ext cx="4304314" cy="1194811"/>
          </a:xfrm>
          <a:prstGeom prst="rect">
            <a:avLst/>
          </a:prstGeom>
        </p:spPr>
      </p:pic>
      <p:sp>
        <p:nvSpPr>
          <p:cNvPr id="35" name="TextBox 34"/>
          <p:cNvSpPr txBox="1"/>
          <p:nvPr userDrawn="1"/>
        </p:nvSpPr>
        <p:spPr>
          <a:xfrm>
            <a:off x="1900403" y="5547175"/>
            <a:ext cx="26209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ta-IN" dirty="0" smtClean="0">
                <a:solidFill>
                  <a:srgbClr val="2F408C"/>
                </a:solidFill>
                <a:latin typeface="Calibri"/>
                <a:cs typeface="Calibri"/>
              </a:rPr>
              <a:t>Zagreb,</a:t>
            </a:r>
            <a:r>
              <a:rPr lang="ta-IN" baseline="0" dirty="0" smtClean="0">
                <a:solidFill>
                  <a:srgbClr val="2F408C"/>
                </a:solidFill>
                <a:latin typeface="Calibri"/>
                <a:cs typeface="Calibri"/>
              </a:rPr>
              <a:t> 29.09.2016.</a:t>
            </a:r>
            <a:endParaRPr lang="en-US" dirty="0">
              <a:solidFill>
                <a:srgbClr val="2F408C"/>
              </a:solidFill>
              <a:latin typeface="Calibri"/>
              <a:cs typeface="Calibri"/>
            </a:endParaRPr>
          </a:p>
        </p:txBody>
      </p:sp>
      <p:sp>
        <p:nvSpPr>
          <p:cNvPr id="46" name="Title 45"/>
          <p:cNvSpPr>
            <a:spLocks noGrp="1"/>
          </p:cNvSpPr>
          <p:nvPr userDrawn="1">
            <p:ph type="title" hasCustomPrompt="1"/>
          </p:nvPr>
        </p:nvSpPr>
        <p:spPr>
          <a:xfrm>
            <a:off x="468346" y="1864528"/>
            <a:ext cx="8268103" cy="2927401"/>
          </a:xfrm>
          <a:prstGeom prst="rect">
            <a:avLst/>
          </a:prstGeom>
        </p:spPr>
        <p:txBody>
          <a:bodyPr vert="horz" anchor="ctr"/>
          <a:lstStyle>
            <a:lvl1pPr algn="ctr">
              <a:defRPr sz="3600"/>
            </a:lvl1pPr>
          </a:lstStyle>
          <a:p>
            <a:r>
              <a:rPr lang="ta-IN" dirty="0" smtClean="0"/>
              <a:t>Ubaci tekst za kraj</a:t>
            </a:r>
            <a:endParaRPr lang="en-US" dirty="0"/>
          </a:p>
        </p:txBody>
      </p:sp>
      <p:grpSp>
        <p:nvGrpSpPr>
          <p:cNvPr id="2" name="Group 1"/>
          <p:cNvGrpSpPr/>
          <p:nvPr userDrawn="1"/>
        </p:nvGrpSpPr>
        <p:grpSpPr>
          <a:xfrm>
            <a:off x="477320" y="4975158"/>
            <a:ext cx="1260000" cy="1533525"/>
            <a:chOff x="4691063" y="4956175"/>
            <a:chExt cx="1260000" cy="1533525"/>
          </a:xfrm>
        </p:grpSpPr>
        <p:sp>
          <p:nvSpPr>
            <p:cNvPr id="20" name="Rectangle 19"/>
            <p:cNvSpPr/>
            <p:nvPr userDrawn="1"/>
          </p:nvSpPr>
          <p:spPr>
            <a:xfrm>
              <a:off x="4691063" y="4956175"/>
              <a:ext cx="1260000" cy="1533525"/>
            </a:xfrm>
            <a:prstGeom prst="rect">
              <a:avLst/>
            </a:prstGeom>
            <a:solidFill>
              <a:srgbClr val="2F408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hr-HR" dirty="0"/>
            </a:p>
          </p:txBody>
        </p:sp>
        <p:pic>
          <p:nvPicPr>
            <p:cNvPr id="29" name="Picture 28" descr="poslovni-300dpi.png"/>
            <p:cNvPicPr>
              <a:picLocks noChangeAspect="1"/>
            </p:cNvPicPr>
            <p:nvPr userDrawn="1"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886184" y="5371842"/>
              <a:ext cx="869759" cy="719999"/>
            </a:xfrm>
            <a:prstGeom prst="rect">
              <a:avLst/>
            </a:prstGeom>
            <a:ln>
              <a:noFill/>
            </a:ln>
          </p:spPr>
        </p:pic>
      </p:grpSp>
      <p:grpSp>
        <p:nvGrpSpPr>
          <p:cNvPr id="5" name="Group 4"/>
          <p:cNvGrpSpPr/>
          <p:nvPr userDrawn="1"/>
        </p:nvGrpSpPr>
        <p:grpSpPr>
          <a:xfrm>
            <a:off x="6101149" y="4975158"/>
            <a:ext cx="1260000" cy="1533525"/>
            <a:chOff x="7510463" y="4956175"/>
            <a:chExt cx="1260000" cy="1533525"/>
          </a:xfrm>
        </p:grpSpPr>
        <p:sp>
          <p:nvSpPr>
            <p:cNvPr id="19" name="Rectangle 18"/>
            <p:cNvSpPr/>
            <p:nvPr userDrawn="1"/>
          </p:nvSpPr>
          <p:spPr>
            <a:xfrm>
              <a:off x="7510463" y="4956175"/>
              <a:ext cx="1260000" cy="1533525"/>
            </a:xfrm>
            <a:prstGeom prst="rect">
              <a:avLst/>
            </a:prstGeom>
            <a:solidFill>
              <a:srgbClr val="FAA51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hr-HR" dirty="0"/>
            </a:p>
          </p:txBody>
        </p:sp>
        <p:pic>
          <p:nvPicPr>
            <p:cNvPr id="30" name="Picture 29" descr="it-300dpi.png"/>
            <p:cNvPicPr>
              <a:picLocks noChangeAspect="1"/>
            </p:cNvPicPr>
            <p:nvPr userDrawn="1"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811922" y="5407841"/>
              <a:ext cx="657083" cy="648000"/>
            </a:xfrm>
            <a:prstGeom prst="rect">
              <a:avLst/>
            </a:prstGeom>
          </p:spPr>
        </p:pic>
      </p:grpSp>
      <p:grpSp>
        <p:nvGrpSpPr>
          <p:cNvPr id="3" name="Group 2"/>
          <p:cNvGrpSpPr/>
          <p:nvPr userDrawn="1"/>
        </p:nvGrpSpPr>
        <p:grpSpPr>
          <a:xfrm>
            <a:off x="4691835" y="4975158"/>
            <a:ext cx="1260000" cy="1533525"/>
            <a:chOff x="477320" y="4965079"/>
            <a:chExt cx="1260000" cy="1533525"/>
          </a:xfrm>
        </p:grpSpPr>
        <p:sp>
          <p:nvSpPr>
            <p:cNvPr id="33" name="Rectangle 32"/>
            <p:cNvSpPr/>
            <p:nvPr userDrawn="1"/>
          </p:nvSpPr>
          <p:spPr>
            <a:xfrm>
              <a:off x="477320" y="4965079"/>
              <a:ext cx="1260000" cy="1533525"/>
            </a:xfrm>
            <a:prstGeom prst="rect">
              <a:avLst/>
            </a:prstGeom>
            <a:solidFill>
              <a:srgbClr val="6DBE4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hr-HR" dirty="0"/>
            </a:p>
          </p:txBody>
        </p:sp>
        <p:pic>
          <p:nvPicPr>
            <p:cNvPr id="36" name="Picture 35" descr="razvojni-300dpi.png"/>
            <p:cNvPicPr>
              <a:picLocks noChangeAspect="1"/>
            </p:cNvPicPr>
            <p:nvPr userDrawn="1"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88716" y="5371842"/>
              <a:ext cx="837209" cy="71999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15454481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 3"/>
          <p:cNvSpPr>
            <a:spLocks noGrp="1"/>
          </p:cNvSpPr>
          <p:nvPr>
            <p:ph type="title"/>
          </p:nvPr>
        </p:nvSpPr>
        <p:spPr>
          <a:xfrm>
            <a:off x="338567" y="0"/>
            <a:ext cx="8466867" cy="94176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ta-IN" dirty="0" smtClean="0"/>
              <a:t>Ubaci naslov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>
          <a:xfrm>
            <a:off x="324001" y="1226881"/>
            <a:ext cx="8495999" cy="485568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ta-IN" dirty="0" smtClean="0"/>
              <a:t>Ubaci tekst ili grafičke materijale</a:t>
            </a:r>
          </a:p>
          <a:p>
            <a:pPr lvl="1"/>
            <a:r>
              <a:rPr lang="ta-IN" dirty="0" smtClean="0"/>
              <a:t>Nivo 2</a:t>
            </a:r>
          </a:p>
          <a:p>
            <a:pPr lvl="2"/>
            <a:r>
              <a:rPr lang="ta-IN" dirty="0" smtClean="0"/>
              <a:t>Nivo 3</a:t>
            </a:r>
          </a:p>
          <a:p>
            <a:pPr lvl="3"/>
            <a:r>
              <a:rPr lang="en-US" dirty="0" smtClean="0"/>
              <a:t>N</a:t>
            </a:r>
            <a:r>
              <a:rPr lang="ta-IN" dirty="0" smtClean="0"/>
              <a:t>ivo 4</a:t>
            </a:r>
          </a:p>
          <a:p>
            <a:pPr lvl="4"/>
            <a:r>
              <a:rPr lang="en-US" dirty="0" smtClean="0"/>
              <a:t>N</a:t>
            </a:r>
            <a:r>
              <a:rPr lang="ta-IN" dirty="0" smtClean="0"/>
              <a:t>ivo 5</a:t>
            </a:r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  <p:sldLayoutId id="2147483711" r:id="rId2"/>
    <p:sldLayoutId id="2147483717" r:id="rId3"/>
    <p:sldLayoutId id="2147483705" r:id="rId4"/>
    <p:sldLayoutId id="2147483715" r:id="rId5"/>
    <p:sldLayoutId id="2147483716" r:id="rId6"/>
    <p:sldLayoutId id="2147483704" r:id="rId7"/>
  </p:sldLayoutIdLst>
  <p:timing>
    <p:tnLst>
      <p:par>
        <p:cTn id="1" dur="indefinite" restart="never" nodeType="tmRoot"/>
      </p:par>
    </p:tnLst>
  </p:timing>
  <p:txStyles>
    <p:titleStyle>
      <a:lvl1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000" b="1" i="0" kern="1200">
          <a:solidFill>
            <a:schemeClr val="tx1"/>
          </a:solidFill>
          <a:latin typeface="Calibri"/>
          <a:ea typeface="+mj-ea"/>
          <a:cs typeface="Calibri"/>
        </a:defRPr>
      </a:lvl1pPr>
      <a:lvl2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2pPr>
      <a:lvl3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3pPr>
      <a:lvl4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4pPr>
      <a:lvl5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5pPr>
      <a:lvl6pPr marL="4572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6pPr>
      <a:lvl7pPr marL="9144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7pPr>
      <a:lvl8pPr marL="13716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8pPr>
      <a:lvl9pPr marL="18288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9pPr>
    </p:titleStyle>
    <p:bodyStyle>
      <a:lvl1pPr marL="228600" indent="-228600" algn="l" rtl="0" eaLnBrk="1" fontAlgn="base" hangingPunct="1">
        <a:lnSpc>
          <a:spcPct val="90000"/>
        </a:lnSpc>
        <a:spcBef>
          <a:spcPts val="1000"/>
        </a:spcBef>
        <a:spcAft>
          <a:spcPct val="0"/>
        </a:spcAft>
        <a:buFont typeface="Wingdings 2" panose="05020102010507070707" pitchFamily="18" charset="2"/>
        <a:buChar char=""/>
        <a:defRPr sz="2800" kern="1200">
          <a:solidFill>
            <a:schemeClr val="tx1"/>
          </a:solidFill>
          <a:latin typeface="Calibri"/>
          <a:ea typeface="+mn-ea"/>
          <a:cs typeface="Calibri"/>
        </a:defRPr>
      </a:lvl1pPr>
      <a:lvl2pPr marL="685800" indent="-228600" algn="l" rtl="0" eaLnBrk="1" fontAlgn="base" hangingPunct="1">
        <a:lnSpc>
          <a:spcPct val="90000"/>
        </a:lnSpc>
        <a:spcBef>
          <a:spcPts val="500"/>
        </a:spcBef>
        <a:spcAft>
          <a:spcPct val="0"/>
        </a:spcAft>
        <a:buFont typeface="Wingdings 2" panose="05020102010507070707" pitchFamily="18" charset="2"/>
        <a:buChar char=""/>
        <a:defRPr sz="2400" kern="1200">
          <a:solidFill>
            <a:schemeClr val="tx1"/>
          </a:solidFill>
          <a:latin typeface="Calibri"/>
          <a:ea typeface="+mn-ea"/>
          <a:cs typeface="Calibri"/>
        </a:defRPr>
      </a:lvl2pPr>
      <a:lvl3pPr marL="1143000" indent="-228600" algn="l" rtl="0" eaLnBrk="1" fontAlgn="base" hangingPunct="1">
        <a:lnSpc>
          <a:spcPct val="90000"/>
        </a:lnSpc>
        <a:spcBef>
          <a:spcPts val="500"/>
        </a:spcBef>
        <a:spcAft>
          <a:spcPct val="0"/>
        </a:spcAft>
        <a:buFont typeface="Wingdings 2" panose="05020102010507070707" pitchFamily="18" charset="2"/>
        <a:buChar char=""/>
        <a:defRPr sz="2000" kern="1200">
          <a:solidFill>
            <a:schemeClr val="tx1"/>
          </a:solidFill>
          <a:latin typeface="Calibri"/>
          <a:ea typeface="+mn-ea"/>
          <a:cs typeface="Calibri"/>
        </a:defRPr>
      </a:lvl3pPr>
      <a:lvl4pPr marL="1600200" indent="-228600" algn="l" rtl="0" eaLnBrk="1" fontAlgn="base" hangingPunct="1">
        <a:lnSpc>
          <a:spcPct val="90000"/>
        </a:lnSpc>
        <a:spcBef>
          <a:spcPts val="500"/>
        </a:spcBef>
        <a:spcAft>
          <a:spcPct val="0"/>
        </a:spcAft>
        <a:buFont typeface="Wingdings 2" panose="05020102010507070707" pitchFamily="18" charset="2"/>
        <a:buChar char=""/>
        <a:defRPr kern="1200">
          <a:solidFill>
            <a:schemeClr val="tx1"/>
          </a:solidFill>
          <a:latin typeface="Calibri"/>
          <a:ea typeface="+mn-ea"/>
          <a:cs typeface="Calibri"/>
        </a:defRPr>
      </a:lvl4pPr>
      <a:lvl5pPr marL="2057400" indent="-228600" algn="l" rtl="0" eaLnBrk="1" fontAlgn="base" hangingPunct="1">
        <a:lnSpc>
          <a:spcPct val="90000"/>
        </a:lnSpc>
        <a:spcBef>
          <a:spcPts val="500"/>
        </a:spcBef>
        <a:spcAft>
          <a:spcPct val="0"/>
        </a:spcAft>
        <a:buFont typeface="Wingdings 2" panose="05020102010507070707" pitchFamily="18" charset="2"/>
        <a:buChar char=""/>
        <a:defRPr kern="1200">
          <a:solidFill>
            <a:schemeClr val="tx1"/>
          </a:solidFill>
          <a:latin typeface="Calibri"/>
          <a:ea typeface="+mn-ea"/>
          <a:cs typeface="Calibri"/>
        </a:defRPr>
      </a:lvl5pPr>
      <a:lvl6pPr marL="2514600" indent="-228600" algn="l" defTabSz="914400" rtl="0" eaLnBrk="1" latinLnBrk="0" hangingPunct="1">
        <a:spcBef>
          <a:spcPct val="200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://mobilityday.com/Agenda/Session/2167?slotID=0" TargetMode="Externa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2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3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://www.mobilityday.com/" TargetMode="Externa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ubtitle 4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ta-IN" sz="2400" dirty="0" smtClean="0"/>
              <a:t>29.09.2016.</a:t>
            </a:r>
          </a:p>
          <a:p>
            <a:r>
              <a:rPr lang="ta-IN" sz="2400" dirty="0" smtClean="0"/>
              <a:t>Zagreb</a:t>
            </a:r>
          </a:p>
          <a:p>
            <a:r>
              <a:rPr lang="ta-IN" sz="2400" dirty="0" smtClean="0"/>
              <a:t>Hotel Antunović</a:t>
            </a:r>
            <a:endParaRPr lang="hr-HR" sz="2400" dirty="0"/>
          </a:p>
        </p:txBody>
      </p:sp>
    </p:spTree>
    <p:extLst>
      <p:ext uri="{BB962C8B-B14F-4D97-AF65-F5344CB8AC3E}">
        <p14:creationId xmlns:p14="http://schemas.microsoft.com/office/powerpoint/2010/main" val="10466965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hr-HR" dirty="0" smtClean="0"/>
              <a:t>Miljenko Cvjetko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2"/>
          </p:nvPr>
        </p:nvSpPr>
        <p:spPr>
          <a:xfrm>
            <a:off x="3386590" y="3311761"/>
            <a:ext cx="5124693" cy="3203858"/>
          </a:xfrm>
        </p:spPr>
        <p:txBody>
          <a:bodyPr>
            <a:normAutofit/>
          </a:bodyPr>
          <a:lstStyle/>
          <a:p>
            <a:r>
              <a:rPr lang="en-US" sz="3600" dirty="0">
                <a:hlinkClick r:id="rId2"/>
              </a:rPr>
              <a:t>Xamarin </a:t>
            </a:r>
            <a:r>
              <a:rPr lang="en-US" sz="3600" dirty="0" smtClean="0">
                <a:hlinkClick r:id="rId2"/>
              </a:rPr>
              <a:t>- priča </a:t>
            </a:r>
            <a:r>
              <a:rPr lang="en-US" sz="3600" dirty="0">
                <a:hlinkClick r:id="rId2"/>
              </a:rPr>
              <a:t>o </a:t>
            </a:r>
            <a:r>
              <a:rPr lang="en-US" sz="3600" dirty="0" smtClean="0">
                <a:hlinkClick r:id="rId2"/>
              </a:rPr>
              <a:t>pristupu </a:t>
            </a:r>
            <a:r>
              <a:rPr lang="en-US" sz="3900" dirty="0" smtClean="0">
                <a:hlinkClick r:id="rId2"/>
              </a:rPr>
              <a:t/>
            </a:r>
            <a:br>
              <a:rPr lang="en-US" sz="3900" dirty="0" smtClean="0">
                <a:hlinkClick r:id="rId2"/>
              </a:rPr>
            </a:br>
            <a:r>
              <a:rPr lang="en-US" dirty="0" smtClean="0">
                <a:hlinkClick r:id="rId2"/>
              </a:rPr>
              <a:t/>
            </a:r>
            <a:br>
              <a:rPr lang="en-US" dirty="0" smtClean="0">
                <a:hlinkClick r:id="rId2"/>
              </a:rPr>
            </a:br>
            <a:r>
              <a:rPr lang="en-US" sz="3000" dirty="0" smtClean="0">
                <a:hlinkClick r:id="rId2"/>
              </a:rPr>
              <a:t>zablude </a:t>
            </a:r>
            <a:r>
              <a:rPr lang="en-US" sz="3000" dirty="0">
                <a:hlinkClick r:id="rId2"/>
              </a:rPr>
              <a:t>i koristi višeplatformskog razvoja</a:t>
            </a:r>
          </a:p>
          <a:p>
            <a:r>
              <a:rPr lang="en-US" b="0" dirty="0"/>
              <a:t> 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67976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9842180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Intro and motivation 1</a:t>
            </a:r>
            <a:endParaRPr lang="en-US" dirty="0"/>
          </a:p>
        </p:txBody>
      </p:sp>
      <p:sp>
        <p:nvSpPr>
          <p:cNvPr id="5" name="Content Placeholder 4"/>
          <p:cNvSpPr>
            <a:spLocks noGrp="1"/>
          </p:cNvSpPr>
          <p:nvPr>
            <p:ph sz="quarter" idx="10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Tom asked me to do the talk on </a:t>
            </a:r>
            <a:r>
              <a:rPr lang="en-US" dirty="0" err="1" smtClean="0"/>
              <a:t>MobilityDay</a:t>
            </a:r>
            <a:endParaRPr lang="en-US" dirty="0" smtClean="0"/>
          </a:p>
          <a:p>
            <a:pPr lvl="1"/>
            <a:r>
              <a:rPr lang="en-US" dirty="0" smtClean="0"/>
              <a:t>Not technical – better intro and story</a:t>
            </a:r>
          </a:p>
          <a:p>
            <a:pPr lvl="1"/>
            <a:r>
              <a:rPr lang="en-US" dirty="0" smtClean="0"/>
              <a:t>Reasons:</a:t>
            </a:r>
          </a:p>
          <a:p>
            <a:pPr lvl="2"/>
            <a:r>
              <a:rPr lang="en-US" dirty="0" smtClean="0"/>
              <a:t>Most of </a:t>
            </a:r>
            <a:r>
              <a:rPr lang="en-US" dirty="0" err="1" smtClean="0"/>
              <a:t>Xamarin</a:t>
            </a:r>
            <a:r>
              <a:rPr lang="en-US" dirty="0" smtClean="0"/>
              <a:t> topics were covered on </a:t>
            </a:r>
            <a:r>
              <a:rPr lang="en-US" dirty="0" err="1" smtClean="0"/>
              <a:t>MobilityDay</a:t>
            </a:r>
            <a:r>
              <a:rPr lang="en-US" dirty="0" smtClean="0"/>
              <a:t> in last 4 years</a:t>
            </a:r>
          </a:p>
          <a:p>
            <a:pPr lvl="2"/>
            <a:r>
              <a:rPr lang="en-US" dirty="0" err="1" smtClean="0"/>
              <a:t>Xamarin</a:t>
            </a:r>
            <a:r>
              <a:rPr lang="en-US" dirty="0" smtClean="0"/>
              <a:t> is HUGE</a:t>
            </a:r>
          </a:p>
          <a:p>
            <a:pPr lvl="3"/>
            <a:r>
              <a:rPr lang="en-US" dirty="0" smtClean="0"/>
              <a:t>independent/different Operating Systems</a:t>
            </a:r>
          </a:p>
          <a:p>
            <a:pPr lvl="4"/>
            <a:r>
              <a:rPr lang="en-US" dirty="0" smtClean="0"/>
              <a:t>Android  </a:t>
            </a:r>
            <a:br>
              <a:rPr lang="en-US" dirty="0" smtClean="0"/>
            </a:br>
            <a:r>
              <a:rPr lang="en-US" dirty="0" smtClean="0"/>
              <a:t>Linux ARM</a:t>
            </a:r>
          </a:p>
          <a:p>
            <a:pPr lvl="4"/>
            <a:r>
              <a:rPr lang="en-US" dirty="0" smtClean="0"/>
              <a:t>iOS and </a:t>
            </a:r>
            <a:r>
              <a:rPr lang="en-US" dirty="0" err="1" smtClean="0"/>
              <a:t>MacOSX</a:t>
            </a:r>
            <a:r>
              <a:rPr lang="en-US" dirty="0" smtClean="0"/>
              <a:t> (iOS is almost subset of </a:t>
            </a:r>
            <a:r>
              <a:rPr lang="en-US" dirty="0" err="1" smtClean="0"/>
              <a:t>MacOSX</a:t>
            </a:r>
            <a:r>
              <a:rPr lang="en-US" dirty="0" smtClean="0"/>
              <a:t>)</a:t>
            </a:r>
            <a:br>
              <a:rPr lang="en-US" dirty="0" smtClean="0"/>
            </a:br>
            <a:r>
              <a:rPr lang="en-US" dirty="0" smtClean="0"/>
              <a:t>Darwin, Mach, BSD</a:t>
            </a:r>
          </a:p>
          <a:p>
            <a:pPr lvl="3"/>
            <a:r>
              <a:rPr lang="en-US" dirty="0" smtClean="0"/>
              <a:t>Mono runtime</a:t>
            </a:r>
          </a:p>
          <a:p>
            <a:pPr lvl="3"/>
            <a:r>
              <a:rPr lang="en-US" dirty="0" smtClean="0"/>
              <a:t>Multi language: { C#, F# }</a:t>
            </a:r>
          </a:p>
          <a:p>
            <a:pPr lvl="3"/>
            <a:r>
              <a:rPr lang="en-US" dirty="0" smtClean="0"/>
              <a:t>IDE </a:t>
            </a:r>
            <a:r>
              <a:rPr lang="en-US" dirty="0" err="1" smtClean="0"/>
              <a:t>Xamarin.Studio</a:t>
            </a:r>
            <a:r>
              <a:rPr lang="en-US" dirty="0" smtClean="0"/>
              <a:t> (</a:t>
            </a:r>
            <a:r>
              <a:rPr lang="en-US" dirty="0" err="1" smtClean="0"/>
              <a:t>MonoDevelop</a:t>
            </a:r>
            <a:r>
              <a:rPr lang="en-US" dirty="0" smtClean="0"/>
              <a:t>) </a:t>
            </a:r>
          </a:p>
        </p:txBody>
      </p:sp>
    </p:spTree>
    <p:extLst>
      <p:ext uri="{BB962C8B-B14F-4D97-AF65-F5344CB8AC3E}">
        <p14:creationId xmlns:p14="http://schemas.microsoft.com/office/powerpoint/2010/main" val="14990368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Intro and motivation 2</a:t>
            </a:r>
            <a:endParaRPr lang="en-US" dirty="0"/>
          </a:p>
        </p:txBody>
      </p:sp>
      <p:sp>
        <p:nvSpPr>
          <p:cNvPr id="5" name="Content Placeholder 4"/>
          <p:cNvSpPr>
            <a:spLocks noGrp="1"/>
          </p:cNvSpPr>
          <p:nvPr>
            <p:ph sz="quarter" idx="10"/>
          </p:nvPr>
        </p:nvSpPr>
        <p:spPr/>
        <p:txBody>
          <a:bodyPr>
            <a:normAutofit/>
          </a:bodyPr>
          <a:lstStyle/>
          <a:p>
            <a:r>
              <a:rPr lang="en-US" dirty="0" err="1" smtClean="0"/>
              <a:t>Xamarin</a:t>
            </a:r>
            <a:r>
              <a:rPr lang="en-US" dirty="0" smtClean="0"/>
              <a:t> - IS HUGE </a:t>
            </a:r>
            <a:r>
              <a:rPr lang="en-US" dirty="0"/>
              <a:t>-&gt; if </a:t>
            </a:r>
            <a:r>
              <a:rPr lang="en-US" dirty="0" smtClean="0"/>
              <a:t>(! Started) </a:t>
            </a:r>
            <a:r>
              <a:rPr lang="en-US" dirty="0"/>
              <a:t>Start(</a:t>
            </a:r>
            <a:r>
              <a:rPr lang="en-US" dirty="0" err="1"/>
              <a:t>Datetime.Now</a:t>
            </a:r>
            <a:r>
              <a:rPr lang="en-US" dirty="0" smtClean="0"/>
              <a:t>);</a:t>
            </a:r>
          </a:p>
          <a:p>
            <a:pPr lvl="1"/>
            <a:r>
              <a:rPr lang="en-US" dirty="0" smtClean="0"/>
              <a:t>Android</a:t>
            </a:r>
          </a:p>
          <a:p>
            <a:pPr lvl="2"/>
            <a:r>
              <a:rPr lang="en-US" dirty="0" smtClean="0"/>
              <a:t>FER </a:t>
            </a:r>
            <a:r>
              <a:rPr lang="en-US" dirty="0" err="1" smtClean="0"/>
              <a:t>Zg</a:t>
            </a:r>
            <a:r>
              <a:rPr lang="en-US" dirty="0" smtClean="0"/>
              <a:t> : 26 + 39hr</a:t>
            </a:r>
          </a:p>
          <a:p>
            <a:pPr lvl="2"/>
            <a:r>
              <a:rPr lang="en-US" dirty="0" err="1" smtClean="0"/>
              <a:t>Racunarstvo</a:t>
            </a:r>
            <a:endParaRPr lang="en-US" dirty="0" smtClean="0"/>
          </a:p>
          <a:p>
            <a:pPr lvl="3"/>
            <a:r>
              <a:rPr lang="en-US" dirty="0"/>
              <a:t>Rad s </a:t>
            </a:r>
            <a:r>
              <a:rPr lang="en-US" dirty="0" err="1"/>
              <a:t>podacima</a:t>
            </a:r>
            <a:r>
              <a:rPr lang="en-US" dirty="0"/>
              <a:t> + </a:t>
            </a:r>
            <a:r>
              <a:rPr lang="en-US" dirty="0" err="1"/>
              <a:t>sigurnost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mobilnim</a:t>
            </a:r>
            <a:r>
              <a:rPr lang="en-US" dirty="0"/>
              <a:t> </a:t>
            </a:r>
            <a:r>
              <a:rPr lang="en-US" dirty="0" err="1"/>
              <a:t>uredjajima</a:t>
            </a:r>
            <a:r>
              <a:rPr lang="en-US" dirty="0"/>
              <a:t> 30 + 30 </a:t>
            </a:r>
            <a:r>
              <a:rPr lang="en-US" dirty="0" err="1" smtClean="0"/>
              <a:t>hr</a:t>
            </a:r>
            <a:endParaRPr lang="en-US" dirty="0"/>
          </a:p>
          <a:p>
            <a:pPr lvl="3"/>
            <a:r>
              <a:rPr lang="en-US" dirty="0" err="1" smtClean="0"/>
              <a:t>Razvoj</a:t>
            </a:r>
            <a:r>
              <a:rPr lang="en-US" dirty="0" smtClean="0"/>
              <a:t> </a:t>
            </a:r>
            <a:r>
              <a:rPr lang="en-US" dirty="0" err="1" smtClean="0"/>
              <a:t>korosnickog</a:t>
            </a:r>
            <a:r>
              <a:rPr lang="en-US" dirty="0" smtClean="0"/>
              <a:t> </a:t>
            </a:r>
            <a:r>
              <a:rPr lang="en-US" dirty="0" err="1" smtClean="0"/>
              <a:t>sucelja</a:t>
            </a:r>
            <a:r>
              <a:rPr lang="en-US" dirty="0" smtClean="0"/>
              <a:t> (</a:t>
            </a:r>
            <a:r>
              <a:rPr lang="en-US" dirty="0" err="1" smtClean="0"/>
              <a:t>Xamarin.Forms</a:t>
            </a:r>
            <a:r>
              <a:rPr lang="en-US" dirty="0" smtClean="0"/>
              <a:t> + Android) 30 + 30 </a:t>
            </a:r>
            <a:r>
              <a:rPr lang="en-US" dirty="0" err="1" smtClean="0"/>
              <a:t>hr</a:t>
            </a:r>
            <a:endParaRPr lang="en-US" dirty="0" smtClean="0"/>
          </a:p>
          <a:p>
            <a:pPr lvl="2"/>
            <a:r>
              <a:rPr lang="en-US" dirty="0" smtClean="0"/>
              <a:t>IT-</a:t>
            </a:r>
            <a:r>
              <a:rPr lang="en-US" dirty="0" err="1" smtClean="0"/>
              <a:t>Akademija</a:t>
            </a:r>
            <a:r>
              <a:rPr lang="en-US" dirty="0" smtClean="0"/>
              <a:t> (RS, BG)</a:t>
            </a:r>
          </a:p>
          <a:p>
            <a:pPr lvl="3"/>
            <a:r>
              <a:rPr lang="en-US" dirty="0" smtClean="0"/>
              <a:t>Intro 36 </a:t>
            </a:r>
            <a:r>
              <a:rPr lang="en-US" dirty="0" err="1" smtClean="0"/>
              <a:t>hr</a:t>
            </a:r>
            <a:r>
              <a:rPr lang="en-US" dirty="0" smtClean="0"/>
              <a:t>, Advanced 32 </a:t>
            </a:r>
            <a:r>
              <a:rPr lang="en-US" dirty="0" err="1" smtClean="0"/>
              <a:t>hr</a:t>
            </a:r>
            <a:r>
              <a:rPr lang="en-US" dirty="0" smtClean="0"/>
              <a:t>, </a:t>
            </a:r>
            <a:r>
              <a:rPr lang="en-US" dirty="0" err="1" smtClean="0"/>
              <a:t>DataDriven</a:t>
            </a:r>
            <a:r>
              <a:rPr lang="en-US" dirty="0" smtClean="0"/>
              <a:t> 32 </a:t>
            </a:r>
            <a:r>
              <a:rPr lang="en-US" dirty="0" err="1" smtClean="0"/>
              <a:t>hr</a:t>
            </a:r>
            <a:r>
              <a:rPr lang="en-US" dirty="0" smtClean="0"/>
              <a:t>, Game Dev 18</a:t>
            </a:r>
            <a:endParaRPr lang="en-US" dirty="0"/>
          </a:p>
          <a:p>
            <a:pPr lvl="1"/>
            <a:r>
              <a:rPr lang="en-US" dirty="0" smtClean="0"/>
              <a:t>iOS</a:t>
            </a:r>
          </a:p>
          <a:p>
            <a:pPr lvl="2"/>
            <a:r>
              <a:rPr lang="en-US" dirty="0" err="1"/>
              <a:t>Racunarstvo</a:t>
            </a:r>
            <a:endParaRPr lang="en-US" dirty="0"/>
          </a:p>
          <a:p>
            <a:pPr lvl="3"/>
            <a:r>
              <a:rPr lang="en-US" dirty="0" err="1"/>
              <a:t>Razvoj</a:t>
            </a:r>
            <a:r>
              <a:rPr lang="en-US" dirty="0"/>
              <a:t> </a:t>
            </a:r>
            <a:r>
              <a:rPr lang="en-US" dirty="0" err="1"/>
              <a:t>Igara</a:t>
            </a:r>
            <a:r>
              <a:rPr lang="en-US" dirty="0"/>
              <a:t> </a:t>
            </a:r>
            <a:r>
              <a:rPr lang="en-US" dirty="0" err="1"/>
              <a:t>za</a:t>
            </a:r>
            <a:r>
              <a:rPr lang="en-US" dirty="0"/>
              <a:t> </a:t>
            </a:r>
            <a:r>
              <a:rPr lang="en-US" dirty="0" err="1"/>
              <a:t>mobilne</a:t>
            </a:r>
            <a:r>
              <a:rPr lang="en-US" dirty="0"/>
              <a:t> </a:t>
            </a:r>
            <a:r>
              <a:rPr lang="en-US" dirty="0" err="1"/>
              <a:t>uredjaje</a:t>
            </a:r>
            <a:r>
              <a:rPr lang="en-US" dirty="0"/>
              <a:t> 30 + 30 </a:t>
            </a:r>
            <a:r>
              <a:rPr lang="en-US" dirty="0" err="1" smtClean="0"/>
              <a:t>hr</a:t>
            </a:r>
            <a:endParaRPr lang="en-US" dirty="0" smtClean="0"/>
          </a:p>
        </p:txBody>
      </p:sp>
    </p:spTree>
    <p:extLst>
      <p:ext uri="{BB962C8B-B14F-4D97-AF65-F5344CB8AC3E}">
        <p14:creationId xmlns:p14="http://schemas.microsoft.com/office/powerpoint/2010/main" val="6070793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Intro and motivation 3</a:t>
            </a:r>
            <a:endParaRPr lang="en-US" dirty="0"/>
          </a:p>
        </p:txBody>
      </p:sp>
      <p:sp>
        <p:nvSpPr>
          <p:cNvPr id="5" name="Content Placeholder 4"/>
          <p:cNvSpPr>
            <a:spLocks noGrp="1"/>
          </p:cNvSpPr>
          <p:nvPr>
            <p:ph sz="quarter" idx="10"/>
          </p:nvPr>
        </p:nvSpPr>
        <p:spPr/>
        <p:txBody>
          <a:bodyPr>
            <a:normAutofit/>
          </a:bodyPr>
          <a:lstStyle/>
          <a:p>
            <a:r>
              <a:rPr lang="en-US" dirty="0" err="1" smtClean="0"/>
              <a:t>Xamarin</a:t>
            </a:r>
            <a:r>
              <a:rPr lang="en-US" dirty="0" smtClean="0"/>
              <a:t> – Who needs this?</a:t>
            </a:r>
          </a:p>
          <a:p>
            <a:pPr lvl="1"/>
            <a:r>
              <a:rPr lang="en-US" dirty="0" smtClean="0"/>
              <a:t>Mobile </a:t>
            </a:r>
            <a:r>
              <a:rPr lang="en-US" dirty="0" err="1" smtClean="0"/>
              <a:t>devs</a:t>
            </a:r>
            <a:r>
              <a:rPr lang="en-US" dirty="0" smtClean="0"/>
              <a:t> targeting &gt; 1 platform</a:t>
            </a:r>
            <a:br>
              <a:rPr lang="en-US" dirty="0" smtClean="0"/>
            </a:br>
            <a:r>
              <a:rPr lang="en-US" dirty="0" smtClean="0"/>
              <a:t>with additional requirements:</a:t>
            </a:r>
          </a:p>
          <a:p>
            <a:pPr lvl="2"/>
            <a:r>
              <a:rPr lang="en-US" dirty="0" smtClean="0"/>
              <a:t>Performance (native)</a:t>
            </a:r>
          </a:p>
          <a:p>
            <a:pPr lvl="2"/>
            <a:r>
              <a:rPr lang="en-US" dirty="0" smtClean="0"/>
              <a:t>1:1 API Coverage + Bonus</a:t>
            </a:r>
          </a:p>
          <a:p>
            <a:pPr lvl="2"/>
            <a:endParaRPr lang="en-US" dirty="0" smtClean="0"/>
          </a:p>
        </p:txBody>
      </p:sp>
    </p:spTree>
    <p:extLst>
      <p:ext uri="{BB962C8B-B14F-4D97-AF65-F5344CB8AC3E}">
        <p14:creationId xmlns:p14="http://schemas.microsoft.com/office/powerpoint/2010/main" val="3187059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Intro and motivation 4</a:t>
            </a:r>
            <a:endParaRPr lang="en-US" dirty="0"/>
          </a:p>
        </p:txBody>
      </p:sp>
      <p:sp>
        <p:nvSpPr>
          <p:cNvPr id="5" name="Content Placeholder 4"/>
          <p:cNvSpPr>
            <a:spLocks noGrp="1"/>
          </p:cNvSpPr>
          <p:nvPr>
            <p:ph sz="quarter" idx="10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We would like to avoid this</a:t>
            </a:r>
          </a:p>
          <a:p>
            <a:pPr lvl="1"/>
            <a:r>
              <a:rPr lang="en-US" dirty="0" smtClean="0"/>
              <a:t>Subjects:</a:t>
            </a:r>
          </a:p>
          <a:p>
            <a:pPr lvl="2"/>
            <a:r>
              <a:rPr lang="en-US" dirty="0" smtClean="0"/>
              <a:t>DP – </a:t>
            </a:r>
            <a:r>
              <a:rPr lang="en-US" dirty="0" err="1" smtClean="0"/>
              <a:t>Domagoj</a:t>
            </a:r>
            <a:r>
              <a:rPr lang="en-US" dirty="0" smtClean="0"/>
              <a:t> </a:t>
            </a:r>
            <a:r>
              <a:rPr lang="en-US" dirty="0" err="1" smtClean="0"/>
              <a:t>Pavlesic</a:t>
            </a:r>
            <a:endParaRPr lang="en-US" dirty="0" smtClean="0"/>
          </a:p>
          <a:p>
            <a:pPr lvl="2"/>
            <a:r>
              <a:rPr lang="en-US" dirty="0" smtClean="0"/>
              <a:t>MC me</a:t>
            </a:r>
          </a:p>
          <a:p>
            <a:pPr lvl="1"/>
            <a:r>
              <a:rPr lang="en-US" dirty="0" smtClean="0"/>
              <a:t>Conversation/Smalltalk KulenDayz16 2016-09-02 22:30</a:t>
            </a:r>
            <a:br>
              <a:rPr lang="en-US" dirty="0" smtClean="0"/>
            </a:br>
            <a:r>
              <a:rPr lang="en-US" dirty="0" smtClean="0"/>
              <a:t>DP: “When will </a:t>
            </a:r>
            <a:r>
              <a:rPr lang="en-US" dirty="0" err="1" smtClean="0"/>
              <a:t>Xamarin</a:t>
            </a:r>
            <a:r>
              <a:rPr lang="en-US" dirty="0" smtClean="0"/>
              <a:t> start working?”</a:t>
            </a:r>
            <a:br>
              <a:rPr lang="en-US" dirty="0" smtClean="0"/>
            </a:br>
            <a:r>
              <a:rPr lang="en-US" dirty="0" smtClean="0"/>
              <a:t>MC: “What exactly is not working? What bothers you?”</a:t>
            </a:r>
            <a:br>
              <a:rPr lang="en-US" dirty="0" smtClean="0"/>
            </a:br>
            <a:r>
              <a:rPr lang="en-US" dirty="0" smtClean="0"/>
              <a:t>DP: “Everything is a hack</a:t>
            </a:r>
            <a:r>
              <a:rPr lang="is-IS" dirty="0" smtClean="0"/>
              <a:t>…</a:t>
            </a:r>
            <a:r>
              <a:rPr lang="en-US" dirty="0" smtClean="0"/>
              <a:t>”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51973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Intro and motivation </a:t>
            </a:r>
            <a:r>
              <a:rPr lang="en-US" dirty="0" smtClean="0"/>
              <a:t>5</a:t>
            </a:r>
            <a:endParaRPr lang="en-US" dirty="0"/>
          </a:p>
        </p:txBody>
      </p:sp>
      <p:sp>
        <p:nvSpPr>
          <p:cNvPr id="5" name="Content Placeholder 4"/>
          <p:cNvSpPr>
            <a:spLocks noGrp="1"/>
          </p:cNvSpPr>
          <p:nvPr>
            <p:ph sz="quarter" idx="10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We would like to avoid this</a:t>
            </a:r>
          </a:p>
          <a:p>
            <a:pPr lvl="1"/>
            <a:r>
              <a:rPr lang="en-US" dirty="0" err="1" smtClean="0"/>
              <a:t>Pixolus</a:t>
            </a:r>
            <a:r>
              <a:rPr lang="en-US" dirty="0" smtClean="0"/>
              <a:t> Bindings Project (</a:t>
            </a:r>
            <a:r>
              <a:rPr lang="en-US" dirty="0" err="1" smtClean="0"/>
              <a:t>Mobendo</a:t>
            </a:r>
            <a:r>
              <a:rPr lang="en-US" dirty="0" smtClean="0"/>
              <a:t>)</a:t>
            </a:r>
            <a:endParaRPr lang="en-US" dirty="0"/>
          </a:p>
          <a:p>
            <a:pPr lvl="2"/>
            <a:r>
              <a:rPr lang="en-US" dirty="0" smtClean="0"/>
              <a:t>“</a:t>
            </a:r>
            <a:r>
              <a:rPr lang="en-US" dirty="0" err="1" smtClean="0"/>
              <a:t>Xamarin</a:t>
            </a:r>
            <a:r>
              <a:rPr lang="en-US" dirty="0" smtClean="0"/>
              <a:t> has the same API”</a:t>
            </a:r>
          </a:p>
          <a:p>
            <a:pPr lvl="2"/>
            <a:r>
              <a:rPr lang="en-US" dirty="0" smtClean="0"/>
              <a:t>“</a:t>
            </a:r>
            <a:r>
              <a:rPr lang="en-US" dirty="0" err="1" smtClean="0"/>
              <a:t>Xamarin.Android</a:t>
            </a:r>
            <a:r>
              <a:rPr lang="en-US" dirty="0" smtClean="0"/>
              <a:t> and </a:t>
            </a:r>
            <a:r>
              <a:rPr lang="en-US" dirty="0" err="1" smtClean="0"/>
              <a:t>Xamarin.iOS</a:t>
            </a:r>
            <a:r>
              <a:rPr lang="en-US" dirty="0" smtClean="0"/>
              <a:t> must have the same API”</a:t>
            </a:r>
          </a:p>
          <a:p>
            <a:pPr lvl="3"/>
            <a:r>
              <a:rPr lang="en-US" dirty="0" smtClean="0"/>
              <a:t>Only if common design was done</a:t>
            </a:r>
          </a:p>
          <a:p>
            <a:pPr lvl="3"/>
            <a:r>
              <a:rPr lang="en-US" dirty="0" smtClean="0"/>
              <a:t>2 or more teams (Android, iOS) -&gt; safe bet APIs are different</a:t>
            </a:r>
            <a:endParaRPr lang="en-US" dirty="0" smtClean="0"/>
          </a:p>
        </p:txBody>
      </p:sp>
    </p:spTree>
    <p:extLst>
      <p:ext uri="{BB962C8B-B14F-4D97-AF65-F5344CB8AC3E}">
        <p14:creationId xmlns:p14="http://schemas.microsoft.com/office/powerpoint/2010/main" val="4948141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Intro and motivation </a:t>
            </a:r>
            <a:r>
              <a:rPr lang="en-US" dirty="0"/>
              <a:t>6</a:t>
            </a:r>
            <a:endParaRPr lang="en-US" dirty="0"/>
          </a:p>
        </p:txBody>
      </p:sp>
      <p:sp>
        <p:nvSpPr>
          <p:cNvPr id="5" name="Content Placeholder 4"/>
          <p:cNvSpPr>
            <a:spLocks noGrp="1"/>
          </p:cNvSpPr>
          <p:nvPr>
            <p:ph sz="quarter" idx="10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We would like to avoid this at all </a:t>
            </a:r>
            <a:r>
              <a:rPr lang="en-US" dirty="0" smtClean="0"/>
              <a:t>costs</a:t>
            </a:r>
            <a:br>
              <a:rPr lang="en-US" dirty="0" smtClean="0"/>
            </a:br>
            <a:r>
              <a:rPr lang="en-US" dirty="0"/>
              <a:t/>
            </a:r>
            <a:br>
              <a:rPr lang="en-US" dirty="0"/>
            </a:br>
            <a:endParaRPr lang="en-US" dirty="0">
              <a:solidFill>
                <a:srgbClr val="FF0000"/>
              </a:solidFill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11630" y="1687458"/>
            <a:ext cx="7063740" cy="4414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76397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Intro and motivation </a:t>
            </a:r>
            <a:r>
              <a:rPr lang="en-US" dirty="0" smtClean="0"/>
              <a:t>7</a:t>
            </a:r>
            <a:endParaRPr lang="en-US" dirty="0"/>
          </a:p>
        </p:txBody>
      </p:sp>
      <p:sp>
        <p:nvSpPr>
          <p:cNvPr id="5" name="Content Placeholder 4"/>
          <p:cNvSpPr>
            <a:spLocks noGrp="1"/>
          </p:cNvSpPr>
          <p:nvPr>
            <p:ph sz="quarter" idx="10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We would like to avoid this at all </a:t>
            </a:r>
            <a:r>
              <a:rPr lang="en-US" dirty="0" smtClean="0"/>
              <a:t>costs</a:t>
            </a:r>
            <a:br>
              <a:rPr lang="en-US" dirty="0" smtClean="0"/>
            </a:br>
            <a:r>
              <a:rPr lang="en-US" dirty="0"/>
              <a:t/>
            </a:r>
            <a:br>
              <a:rPr lang="en-US" dirty="0"/>
            </a:br>
            <a:r>
              <a:rPr lang="en-US" dirty="0" smtClean="0">
                <a:solidFill>
                  <a:srgbClr val="FF0000"/>
                </a:solidFill>
              </a:rPr>
              <a:t>'</a:t>
            </a:r>
            <a:r>
              <a:rPr lang="en-US" dirty="0" err="1" smtClean="0">
                <a:solidFill>
                  <a:srgbClr val="FF0000"/>
                </a:solidFill>
              </a:rPr>
              <a:t>sudo</a:t>
            </a:r>
            <a:r>
              <a:rPr lang="en-US" dirty="0">
                <a:solidFill>
                  <a:srgbClr val="FF0000"/>
                </a:solidFill>
              </a:rPr>
              <a:t>' is not recognized as an internal or external </a:t>
            </a:r>
            <a:r>
              <a:rPr lang="en-US" dirty="0" smtClean="0">
                <a:solidFill>
                  <a:srgbClr val="FF0000"/>
                </a:solidFill>
              </a:rPr>
              <a:t>command, operable </a:t>
            </a:r>
            <a:r>
              <a:rPr lang="en-US" dirty="0">
                <a:solidFill>
                  <a:srgbClr val="FF0000"/>
                </a:solidFill>
              </a:rPr>
              <a:t>program or batch file</a:t>
            </a:r>
            <a:r>
              <a:rPr lang="en-US" dirty="0" smtClean="0">
                <a:solidFill>
                  <a:srgbClr val="FF0000"/>
                </a:solidFill>
              </a:rPr>
              <a:t>.</a:t>
            </a:r>
            <a:br>
              <a:rPr lang="en-US" dirty="0" smtClean="0">
                <a:solidFill>
                  <a:srgbClr val="FF0000"/>
                </a:solidFill>
              </a:rPr>
            </a:br>
            <a:endParaRPr lang="en-US" dirty="0">
              <a:solidFill>
                <a:srgbClr val="FF0000"/>
              </a:solidFill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17345" y="2966120"/>
            <a:ext cx="5726430" cy="2997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37061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err="1" smtClean="0"/>
              <a:t>Xamarin</a:t>
            </a:r>
            <a:r>
              <a:rPr lang="en-US" dirty="0" smtClean="0"/>
              <a:t> </a:t>
            </a:r>
            <a:r>
              <a:rPr lang="en-US" dirty="0" smtClean="0"/>
              <a:t>NEWS 1</a:t>
            </a:r>
            <a:endParaRPr lang="en-US" dirty="0"/>
          </a:p>
        </p:txBody>
      </p:sp>
      <p:sp>
        <p:nvSpPr>
          <p:cNvPr id="5" name="Content Placeholder 4"/>
          <p:cNvSpPr>
            <a:spLocks noGrp="1"/>
          </p:cNvSpPr>
          <p:nvPr>
            <p:ph sz="quarter" idx="10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OS updates</a:t>
            </a:r>
          </a:p>
          <a:p>
            <a:pPr lvl="1"/>
            <a:r>
              <a:rPr lang="en-US" dirty="0" err="1" smtClean="0"/>
              <a:t>Xamarin</a:t>
            </a:r>
            <a:r>
              <a:rPr lang="en-US" dirty="0" smtClean="0"/>
              <a:t> Platform updates</a:t>
            </a:r>
          </a:p>
          <a:p>
            <a:pPr lvl="2"/>
            <a:r>
              <a:rPr lang="en-US" dirty="0" smtClean="0"/>
              <a:t>iOS10</a:t>
            </a:r>
            <a:endParaRPr lang="en-US" dirty="0" smtClean="0"/>
          </a:p>
          <a:p>
            <a:pPr lvl="2"/>
            <a:r>
              <a:rPr lang="en-US" dirty="0" smtClean="0"/>
              <a:t>Android N (Nougat) Android 7</a:t>
            </a:r>
          </a:p>
          <a:p>
            <a:r>
              <a:rPr lang="en-US" dirty="0" err="1" smtClean="0"/>
              <a:t>Xamarin.IOS.Simulator</a:t>
            </a:r>
            <a:r>
              <a:rPr lang="en-US" dirty="0" smtClean="0"/>
              <a:t> for Visual Studio</a:t>
            </a:r>
          </a:p>
          <a:p>
            <a:r>
              <a:rPr lang="en-US" dirty="0" smtClean="0"/>
              <a:t>Ecosystem + Productivity</a:t>
            </a:r>
          </a:p>
          <a:p>
            <a:pPr lvl="1"/>
            <a:r>
              <a:rPr lang="en-US" dirty="0" err="1" smtClean="0"/>
              <a:t>Xamarin.Android.BindingsGenerator</a:t>
            </a:r>
            <a:r>
              <a:rPr lang="en-US" dirty="0" smtClean="0"/>
              <a:t> </a:t>
            </a:r>
            <a:endParaRPr lang="en-US" dirty="0" smtClean="0"/>
          </a:p>
          <a:p>
            <a:pPr lvl="2"/>
            <a:r>
              <a:rPr lang="en-US" dirty="0" smtClean="0"/>
              <a:t>class-parse</a:t>
            </a:r>
          </a:p>
          <a:p>
            <a:pPr lvl="2"/>
            <a:r>
              <a:rPr lang="en-US" dirty="0"/>
              <a:t>j</a:t>
            </a:r>
            <a:r>
              <a:rPr lang="en-US" dirty="0" smtClean="0"/>
              <a:t>ar2xml (old)</a:t>
            </a:r>
          </a:p>
          <a:p>
            <a:pPr lvl="1"/>
            <a:r>
              <a:rPr lang="en-US" dirty="0" err="1" smtClean="0"/>
              <a:t>Xamarin.iOS.Bindings</a:t>
            </a:r>
            <a:endParaRPr lang="en-US" dirty="0" smtClean="0"/>
          </a:p>
          <a:p>
            <a:pPr lvl="2"/>
            <a:r>
              <a:rPr lang="en-US" dirty="0" smtClean="0"/>
              <a:t>Objective-sharpie 3.3</a:t>
            </a:r>
            <a:br>
              <a:rPr lang="en-US" dirty="0" smtClean="0"/>
            </a:br>
            <a:r>
              <a:rPr lang="en-US" dirty="0" smtClean="0"/>
              <a:t>iOS, Mac OS, </a:t>
            </a:r>
            <a:r>
              <a:rPr lang="en-US" dirty="0" err="1" smtClean="0"/>
              <a:t>tvOS</a:t>
            </a:r>
            <a:endParaRPr lang="en-US" dirty="0" smtClean="0"/>
          </a:p>
          <a:p>
            <a:endParaRPr lang="en-US" dirty="0" smtClean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980930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err="1" smtClean="0"/>
              <a:t>Xamarin</a:t>
            </a:r>
            <a:r>
              <a:rPr lang="en-US" dirty="0" smtClean="0"/>
              <a:t> </a:t>
            </a:r>
            <a:r>
              <a:rPr lang="en-US" dirty="0" smtClean="0"/>
              <a:t>NEWS 2</a:t>
            </a:r>
            <a:endParaRPr lang="en-US" dirty="0"/>
          </a:p>
        </p:txBody>
      </p:sp>
      <p:sp>
        <p:nvSpPr>
          <p:cNvPr id="5" name="Content Placeholder 4"/>
          <p:cNvSpPr>
            <a:spLocks noGrp="1"/>
          </p:cNvSpPr>
          <p:nvPr>
            <p:ph sz="quarter" idx="10"/>
          </p:nvPr>
        </p:nvSpPr>
        <p:spPr/>
        <p:txBody>
          <a:bodyPr>
            <a:normAutofit/>
          </a:bodyPr>
          <a:lstStyle/>
          <a:p>
            <a:r>
              <a:rPr lang="en-US" dirty="0"/>
              <a:t>Ecosystem + Productivity</a:t>
            </a:r>
          </a:p>
          <a:p>
            <a:pPr lvl="1"/>
            <a:r>
              <a:rPr lang="en-US" dirty="0" smtClean="0"/>
              <a:t>Libraries c/</a:t>
            </a:r>
            <a:r>
              <a:rPr lang="en-US" dirty="0" err="1" smtClean="0"/>
              <a:t>c</a:t>
            </a:r>
            <a:r>
              <a:rPr lang="en-US" dirty="0" err="1" smtClean="0"/>
              <a:t>++</a:t>
            </a:r>
            <a:r>
              <a:rPr lang="en-US" dirty="0" smtClean="0"/>
              <a:t> </a:t>
            </a:r>
            <a:r>
              <a:rPr lang="en-US" dirty="0" err="1" smtClean="0"/>
              <a:t>Bidnings</a:t>
            </a:r>
            <a:r>
              <a:rPr lang="en-US" dirty="0" smtClean="0"/>
              <a:t> (new libraries)</a:t>
            </a:r>
          </a:p>
          <a:p>
            <a:pPr lvl="2"/>
            <a:r>
              <a:rPr lang="en-US" dirty="0" smtClean="0"/>
              <a:t>Published/released (alpha/beta/release)</a:t>
            </a:r>
          </a:p>
          <a:p>
            <a:pPr lvl="3"/>
            <a:r>
              <a:rPr lang="en-US" dirty="0" err="1" smtClean="0"/>
              <a:t>SkiaSharp</a:t>
            </a:r>
            <a:r>
              <a:rPr lang="en-US" dirty="0" smtClean="0"/>
              <a:t> </a:t>
            </a:r>
            <a:r>
              <a:rPr lang="en-US" dirty="0" smtClean="0"/>
              <a:t>2D Portable graphics library (</a:t>
            </a:r>
            <a:r>
              <a:rPr lang="en-US" dirty="0" err="1" smtClean="0"/>
              <a:t>System.Drawing</a:t>
            </a:r>
            <a:r>
              <a:rPr lang="en-US" dirty="0" smtClean="0"/>
              <a:t>)</a:t>
            </a:r>
          </a:p>
          <a:p>
            <a:pPr lvl="3"/>
            <a:r>
              <a:rPr lang="en-US" dirty="0" err="1" smtClean="0"/>
              <a:t>VulkanSharp</a:t>
            </a:r>
            <a:r>
              <a:rPr lang="en-US" dirty="0" smtClean="0"/>
              <a:t> (Graphics Hardware API, </a:t>
            </a:r>
            <a:r>
              <a:rPr lang="en-US" dirty="0" err="1" smtClean="0"/>
              <a:t>xplat</a:t>
            </a:r>
            <a:r>
              <a:rPr lang="en-US" dirty="0" smtClean="0"/>
              <a:t>)</a:t>
            </a:r>
          </a:p>
          <a:p>
            <a:pPr lvl="2"/>
            <a:r>
              <a:rPr lang="en-US" dirty="0" smtClean="0"/>
              <a:t>Dusting off (planned)</a:t>
            </a:r>
          </a:p>
          <a:p>
            <a:pPr lvl="3"/>
            <a:r>
              <a:rPr lang="en-US" dirty="0" err="1" smtClean="0"/>
              <a:t>OpenCV</a:t>
            </a:r>
            <a:endParaRPr lang="en-US" dirty="0" smtClean="0"/>
          </a:p>
          <a:p>
            <a:pPr lvl="3"/>
            <a:r>
              <a:rPr lang="en-US" dirty="0" err="1" smtClean="0"/>
              <a:t>OpenEars</a:t>
            </a:r>
            <a:endParaRPr lang="en-US" dirty="0" smtClean="0"/>
          </a:p>
          <a:p>
            <a:pPr lvl="3"/>
            <a:r>
              <a:rPr lang="en-US" dirty="0" smtClean="0"/>
              <a:t>PJSIP</a:t>
            </a:r>
            <a:endParaRPr lang="en-US" dirty="0" smtClean="0"/>
          </a:p>
          <a:p>
            <a:endParaRPr lang="en-US" dirty="0" smtClean="0"/>
          </a:p>
          <a:p>
            <a:endParaRPr lang="en-US" dirty="0" smtClean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7225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 smtClean="0"/>
              <a:t>Xamarin</a:t>
            </a:r>
            <a:r>
              <a:rPr lang="en-US" dirty="0" smtClean="0"/>
              <a:t> Technology Stack – Nomenclature </a:t>
            </a:r>
            <a:endParaRPr lang="en-US" dirty="0"/>
          </a:p>
        </p:txBody>
      </p:sp>
      <p:sp>
        <p:nvSpPr>
          <p:cNvPr id="5" name="Content Placeholder 4"/>
          <p:cNvSpPr>
            <a:spLocks noGrp="1"/>
          </p:cNvSpPr>
          <p:nvPr>
            <p:ph sz="quarter" idx="10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Technology Stack</a:t>
            </a:r>
          </a:p>
          <a:p>
            <a:pPr lvl="1"/>
            <a:r>
              <a:rPr lang="en-US" dirty="0" err="1" smtClean="0"/>
              <a:t>Xamarin</a:t>
            </a:r>
            <a:r>
              <a:rPr lang="en-US" dirty="0" smtClean="0"/>
              <a:t> </a:t>
            </a:r>
            <a:r>
              <a:rPr lang="en-US" b="1" dirty="0" smtClean="0"/>
              <a:t>Traditional/Standard</a:t>
            </a:r>
            <a:r>
              <a:rPr lang="en-US" dirty="0" smtClean="0"/>
              <a:t> </a:t>
            </a:r>
          </a:p>
          <a:p>
            <a:pPr lvl="2"/>
            <a:r>
              <a:rPr lang="en-US" dirty="0" err="1" smtClean="0"/>
              <a:t>Xamarin.Android</a:t>
            </a:r>
            <a:endParaRPr lang="en-US" dirty="0" smtClean="0"/>
          </a:p>
          <a:p>
            <a:pPr lvl="2"/>
            <a:r>
              <a:rPr lang="en-US" dirty="0" err="1" smtClean="0"/>
              <a:t>Xamarin.iOS</a:t>
            </a:r>
            <a:endParaRPr lang="en-US" dirty="0" smtClean="0"/>
          </a:p>
          <a:p>
            <a:pPr lvl="3"/>
            <a:r>
              <a:rPr lang="en-US" dirty="0" smtClean="0"/>
              <a:t>Classic </a:t>
            </a:r>
          </a:p>
          <a:p>
            <a:pPr lvl="3"/>
            <a:r>
              <a:rPr lang="en-US" dirty="0" smtClean="0"/>
              <a:t>deprecated/obsolete</a:t>
            </a:r>
          </a:p>
          <a:p>
            <a:pPr lvl="1"/>
            <a:r>
              <a:rPr lang="en-US" dirty="0" err="1" smtClean="0"/>
              <a:t>Xamarin.Forms</a:t>
            </a:r>
            <a:endParaRPr lang="en-US" dirty="0" smtClean="0"/>
          </a:p>
          <a:p>
            <a:endParaRPr lang="en-US" dirty="0" smtClean="0"/>
          </a:p>
          <a:p>
            <a:endParaRPr lang="en-US" dirty="0"/>
          </a:p>
          <a:p>
            <a:r>
              <a:rPr lang="en-US" dirty="0" smtClean="0"/>
              <a:t>Even </a:t>
            </a:r>
            <a:r>
              <a:rPr lang="en-US" dirty="0"/>
              <a:t>the best people in filed make mistakes</a:t>
            </a:r>
          </a:p>
          <a:p>
            <a:pPr lvl="1"/>
            <a:r>
              <a:rPr lang="en-US" dirty="0"/>
              <a:t>Ivan </a:t>
            </a:r>
            <a:r>
              <a:rPr lang="en-US" dirty="0" err="1"/>
              <a:t>Čuljak</a:t>
            </a:r>
            <a:r>
              <a:rPr lang="en-US" dirty="0"/>
              <a:t> used </a:t>
            </a:r>
            <a:r>
              <a:rPr lang="en-US" dirty="0" err="1"/>
              <a:t>Xamarin</a:t>
            </a:r>
            <a:r>
              <a:rPr lang="en-US" dirty="0"/>
              <a:t> Classic – for </a:t>
            </a:r>
            <a:r>
              <a:rPr lang="en-US" dirty="0" smtClean="0"/>
              <a:t>Standard/Traditional</a:t>
            </a:r>
          </a:p>
        </p:txBody>
      </p:sp>
    </p:spTree>
    <p:extLst>
      <p:ext uri="{BB962C8B-B14F-4D97-AF65-F5344CB8AC3E}">
        <p14:creationId xmlns:p14="http://schemas.microsoft.com/office/powerpoint/2010/main" val="8190888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 smtClean="0"/>
              <a:t>Xamarin</a:t>
            </a:r>
            <a:r>
              <a:rPr lang="en-US" dirty="0" smtClean="0"/>
              <a:t> Technology Stack – Nomenclature </a:t>
            </a:r>
            <a:endParaRPr lang="en-US" dirty="0"/>
          </a:p>
        </p:txBody>
      </p:sp>
      <p:sp>
        <p:nvSpPr>
          <p:cNvPr id="5" name="Content Placeholder 4"/>
          <p:cNvSpPr>
            <a:spLocks noGrp="1"/>
          </p:cNvSpPr>
          <p:nvPr>
            <p:ph sz="quarter" idx="10"/>
          </p:nvPr>
        </p:nvSpPr>
        <p:spPr/>
        <p:txBody>
          <a:bodyPr>
            <a:normAutofit/>
          </a:bodyPr>
          <a:lstStyle/>
          <a:p>
            <a:r>
              <a:rPr lang="en-US" dirty="0"/>
              <a:t>Other products</a:t>
            </a:r>
          </a:p>
          <a:p>
            <a:pPr lvl="1"/>
            <a:r>
              <a:rPr lang="en-US" dirty="0" smtClean="0"/>
              <a:t>IDE</a:t>
            </a:r>
          </a:p>
          <a:p>
            <a:pPr lvl="2"/>
            <a:r>
              <a:rPr lang="en-US" dirty="0" err="1" smtClean="0"/>
              <a:t>Xamarin.Studio</a:t>
            </a:r>
            <a:r>
              <a:rPr lang="en-US" dirty="0" smtClean="0"/>
              <a:t> </a:t>
            </a:r>
            <a:r>
              <a:rPr lang="en-US" dirty="0"/>
              <a:t>= </a:t>
            </a:r>
            <a:r>
              <a:rPr lang="en-US" dirty="0" err="1"/>
              <a:t>MonoDevelop</a:t>
            </a:r>
            <a:r>
              <a:rPr lang="en-US" dirty="0"/>
              <a:t> on </a:t>
            </a:r>
            <a:r>
              <a:rPr lang="en-US" dirty="0" err="1"/>
              <a:t>stereoids</a:t>
            </a:r>
            <a:endParaRPr lang="en-US" dirty="0"/>
          </a:p>
          <a:p>
            <a:pPr lvl="1"/>
            <a:r>
              <a:rPr lang="en-US" dirty="0" err="1" smtClean="0"/>
              <a:t>Xamarin.Profiler</a:t>
            </a:r>
            <a:endParaRPr lang="en-US" dirty="0" smtClean="0"/>
          </a:p>
          <a:p>
            <a:pPr lvl="1"/>
            <a:r>
              <a:rPr lang="en-US" dirty="0" err="1" smtClean="0"/>
              <a:t>Xamarin.UITest</a:t>
            </a:r>
            <a:endParaRPr lang="en-US" dirty="0" smtClean="0"/>
          </a:p>
          <a:p>
            <a:pPr lvl="1"/>
            <a:r>
              <a:rPr lang="en-US" dirty="0" err="1"/>
              <a:t>Xamarin.Test.Recorder</a:t>
            </a:r>
            <a:endParaRPr lang="en-US" dirty="0"/>
          </a:p>
          <a:p>
            <a:pPr lvl="1"/>
            <a:r>
              <a:rPr lang="en-US" dirty="0" err="1" smtClean="0"/>
              <a:t>Xamarin.Test.Cloud</a:t>
            </a:r>
            <a:endParaRPr lang="en-US" dirty="0"/>
          </a:p>
          <a:p>
            <a:pPr lvl="1"/>
            <a:r>
              <a:rPr lang="en-US" dirty="0" err="1" smtClean="0"/>
              <a:t>Xamarin.Interactive</a:t>
            </a:r>
            <a:r>
              <a:rPr lang="en-US" dirty="0" smtClean="0"/>
              <a:t> </a:t>
            </a:r>
            <a:r>
              <a:rPr lang="en-US" dirty="0"/>
              <a:t>= Workbooks + </a:t>
            </a:r>
            <a:r>
              <a:rPr lang="en-US" dirty="0" smtClean="0"/>
              <a:t>Inspector</a:t>
            </a:r>
            <a:br>
              <a:rPr lang="en-US" dirty="0" smtClean="0"/>
            </a:br>
            <a:r>
              <a:rPr lang="en-US" dirty="0" smtClean="0"/>
              <a:t>markdown + code</a:t>
            </a:r>
            <a:br>
              <a:rPr lang="en-US" dirty="0" smtClean="0"/>
            </a:br>
            <a:r>
              <a:rPr lang="en-US" dirty="0" smtClean="0"/>
              <a:t>EXECUTABLE</a:t>
            </a:r>
            <a:r>
              <a:rPr lang="en-US" dirty="0" smtClean="0"/>
              <a:t>!!!!</a:t>
            </a:r>
          </a:p>
          <a:p>
            <a:pPr lvl="1"/>
            <a:r>
              <a:rPr lang="en-US" dirty="0" err="1" smtClean="0"/>
              <a:t>Xamarin.University</a:t>
            </a:r>
            <a:r>
              <a:rPr lang="en-US" dirty="0" smtClean="0"/>
              <a:t/>
            </a:r>
            <a:br>
              <a:rPr lang="en-US" dirty="0" smtClean="0"/>
            </a:br>
            <a:r>
              <a:rPr lang="en-US" dirty="0" smtClean="0"/>
              <a:t>yes this is a product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50908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err="1" smtClean="0"/>
              <a:t>Xamarin</a:t>
            </a:r>
            <a:r>
              <a:rPr lang="en-US" dirty="0" smtClean="0"/>
              <a:t> Technology Stack – </a:t>
            </a:r>
            <a:r>
              <a:rPr lang="en-US" dirty="0" smtClean="0"/>
              <a:t>Target </a:t>
            </a:r>
            <a:endParaRPr lang="en-US" dirty="0"/>
          </a:p>
        </p:txBody>
      </p:sp>
      <p:sp>
        <p:nvSpPr>
          <p:cNvPr id="5" name="Content Placeholder 4"/>
          <p:cNvSpPr>
            <a:spLocks noGrp="1"/>
          </p:cNvSpPr>
          <p:nvPr>
            <p:ph sz="quarter" idx="10"/>
          </p:nvPr>
        </p:nvSpPr>
        <p:spPr/>
        <p:txBody>
          <a:bodyPr>
            <a:normAutofit lnSpcReduction="10000"/>
          </a:bodyPr>
          <a:lstStyle/>
          <a:p>
            <a:r>
              <a:rPr lang="en-US" dirty="0" err="1" smtClean="0"/>
              <a:t>Xamarin</a:t>
            </a:r>
            <a:r>
              <a:rPr lang="en-US" dirty="0" smtClean="0"/>
              <a:t> is targeting</a:t>
            </a:r>
            <a:endParaRPr lang="en-US" dirty="0"/>
          </a:p>
          <a:p>
            <a:pPr lvl="1"/>
            <a:r>
              <a:rPr lang="en-US" dirty="0" err="1" smtClean="0"/>
              <a:t>Xplat</a:t>
            </a:r>
            <a:r>
              <a:rPr lang="en-US" dirty="0" smtClean="0"/>
              <a:t> </a:t>
            </a:r>
            <a:r>
              <a:rPr lang="en-US" dirty="0" err="1" smtClean="0"/>
              <a:t>devs</a:t>
            </a:r>
            <a:r>
              <a:rPr lang="en-US" dirty="0" smtClean="0"/>
              <a:t> (companies or individuals)</a:t>
            </a:r>
            <a:endParaRPr lang="en-US" dirty="0" smtClean="0"/>
          </a:p>
          <a:p>
            <a:pPr lvl="2"/>
            <a:r>
              <a:rPr lang="en-US" dirty="0" smtClean="0"/>
              <a:t>App targeting &gt; 1 platform</a:t>
            </a:r>
          </a:p>
          <a:p>
            <a:pPr lvl="3"/>
            <a:r>
              <a:rPr lang="en-US" dirty="0" smtClean="0"/>
              <a:t>Options: java or {</a:t>
            </a:r>
            <a:r>
              <a:rPr lang="en-US" dirty="0" err="1" smtClean="0"/>
              <a:t>javascript</a:t>
            </a:r>
            <a:r>
              <a:rPr lang="en-US" dirty="0" smtClean="0"/>
              <a:t>, HTML, </a:t>
            </a:r>
            <a:r>
              <a:rPr lang="en-US" dirty="0" err="1" smtClean="0"/>
              <a:t>css</a:t>
            </a:r>
            <a:r>
              <a:rPr lang="en-US" dirty="0" smtClean="0"/>
              <a:t>}</a:t>
            </a:r>
          </a:p>
          <a:p>
            <a:pPr lvl="3"/>
            <a:r>
              <a:rPr lang="en-US" dirty="0" smtClean="0"/>
              <a:t>Horizontal or vertical</a:t>
            </a:r>
          </a:p>
          <a:p>
            <a:pPr lvl="4"/>
            <a:r>
              <a:rPr lang="en-US" dirty="0" smtClean="0"/>
              <a:t>Vertical:</a:t>
            </a:r>
          </a:p>
          <a:p>
            <a:pPr lvl="5"/>
            <a:r>
              <a:rPr lang="en-US" dirty="0" smtClean="0"/>
              <a:t>Mobile - horizontal: Android, iOS, </a:t>
            </a:r>
            <a:r>
              <a:rPr lang="en-US" dirty="0" err="1" smtClean="0"/>
              <a:t>WindowsPhone</a:t>
            </a:r>
            <a:r>
              <a:rPr lang="en-US" dirty="0" smtClean="0"/>
              <a:t>, UWP</a:t>
            </a:r>
          </a:p>
          <a:p>
            <a:pPr lvl="5"/>
            <a:r>
              <a:rPr lang="en-US" dirty="0" smtClean="0"/>
              <a:t>Desktop - horizontal: </a:t>
            </a:r>
          </a:p>
          <a:p>
            <a:pPr lvl="6"/>
            <a:r>
              <a:rPr lang="en-US" dirty="0" smtClean="0"/>
              <a:t>Windows (WPF, </a:t>
            </a:r>
            <a:r>
              <a:rPr lang="en-US" dirty="0" err="1" smtClean="0"/>
              <a:t>Windows.Forms</a:t>
            </a:r>
            <a:r>
              <a:rPr lang="en-US" dirty="0" smtClean="0"/>
              <a:t>, UWP)</a:t>
            </a:r>
          </a:p>
          <a:p>
            <a:pPr lvl="6"/>
            <a:r>
              <a:rPr lang="en-US" dirty="0" err="1" smtClean="0"/>
              <a:t>MacOSX</a:t>
            </a:r>
            <a:endParaRPr lang="en-US" dirty="0" smtClean="0"/>
          </a:p>
          <a:p>
            <a:pPr lvl="6"/>
            <a:r>
              <a:rPr lang="en-US" dirty="0" smtClean="0"/>
              <a:t>Linux</a:t>
            </a:r>
          </a:p>
          <a:p>
            <a:pPr lvl="5"/>
            <a:r>
              <a:rPr lang="en-US" dirty="0" smtClean="0"/>
              <a:t>Server – </a:t>
            </a:r>
            <a:r>
              <a:rPr lang="en-US" dirty="0" err="1" smtClean="0"/>
              <a:t>ASP.net</a:t>
            </a:r>
            <a:r>
              <a:rPr lang="en-US" dirty="0" smtClean="0"/>
              <a:t> and/or </a:t>
            </a:r>
            <a:r>
              <a:rPr lang="en-US" dirty="0" err="1" smtClean="0"/>
              <a:t>ASP.net</a:t>
            </a:r>
            <a:r>
              <a:rPr lang="en-US" dirty="0" smtClean="0"/>
              <a:t> core (Windows, Mac, Linux)</a:t>
            </a:r>
          </a:p>
          <a:p>
            <a:pPr lvl="1"/>
            <a:r>
              <a:rPr lang="en-US" dirty="0" smtClean="0"/>
              <a:t>Dot net shops</a:t>
            </a:r>
            <a:br>
              <a:rPr lang="en-US" dirty="0" smtClean="0"/>
            </a:br>
            <a:r>
              <a:rPr lang="en-US" dirty="0" smtClean="0"/>
              <a:t>App written for some Microsoft platform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77939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err="1" smtClean="0"/>
              <a:t>Xamarin</a:t>
            </a:r>
            <a:r>
              <a:rPr lang="en-US" dirty="0" smtClean="0"/>
              <a:t> Learning Path 1</a:t>
            </a:r>
            <a:endParaRPr lang="en-US" dirty="0"/>
          </a:p>
        </p:txBody>
      </p:sp>
      <p:sp>
        <p:nvSpPr>
          <p:cNvPr id="5" name="Content Placeholder 4"/>
          <p:cNvSpPr>
            <a:spLocks noGrp="1"/>
          </p:cNvSpPr>
          <p:nvPr>
            <p:ph sz="quarter" idx="10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Disclaimer: my personal opinion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 err="1" smtClean="0"/>
              <a:t>Xamarin.Forms</a:t>
            </a:r>
            <a:r>
              <a:rPr lang="en-US" dirty="0" smtClean="0"/>
              <a:t>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 err="1" smtClean="0"/>
              <a:t>Xamarin.Platforms</a:t>
            </a:r>
            <a:r>
              <a:rPr lang="en-US" dirty="0" smtClean="0"/>
              <a:t> (in parallel if possible)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 err="1" smtClean="0"/>
              <a:t>Xamarin.Android</a:t>
            </a:r>
            <a:r>
              <a:rPr lang="en-US" dirty="0" smtClean="0"/>
              <a:t/>
            </a:r>
            <a:br>
              <a:rPr lang="en-US" dirty="0" smtClean="0"/>
            </a:br>
            <a:r>
              <a:rPr lang="en-US" dirty="0" smtClean="0"/>
              <a:t>a bit easier for </a:t>
            </a:r>
            <a:r>
              <a:rPr lang="en-US" dirty="0" err="1" smtClean="0"/>
              <a:t>c#</a:t>
            </a:r>
            <a:r>
              <a:rPr lang="en-US" dirty="0" smtClean="0"/>
              <a:t> developer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 err="1" smtClean="0"/>
              <a:t>Xamarin.iOS</a:t>
            </a: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dirty="0" err="1" smtClean="0"/>
              <a:t>Xamarin.Test</a:t>
            </a:r>
            <a:r>
              <a:rPr lang="en-US" dirty="0"/>
              <a:t> </a:t>
            </a:r>
            <a:r>
              <a:rPr lang="en-US" dirty="0" smtClean="0"/>
              <a:t>Tools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 err="1" smtClean="0"/>
              <a:t>Xamarin.UITest</a:t>
            </a:r>
            <a:r>
              <a:rPr lang="en-US" dirty="0" smtClean="0"/>
              <a:t/>
            </a:r>
            <a:br>
              <a:rPr lang="en-US" dirty="0" smtClean="0"/>
            </a:br>
            <a:r>
              <a:rPr lang="en-US" dirty="0" smtClean="0"/>
              <a:t>easy – my daughter does this (even talks)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 err="1" smtClean="0"/>
              <a:t>Xamarin.Test.Cloud</a:t>
            </a:r>
            <a:r>
              <a:rPr lang="en-US" dirty="0" smtClean="0"/>
              <a:t/>
            </a:r>
            <a:br>
              <a:rPr lang="en-US" dirty="0" smtClean="0"/>
            </a:br>
            <a:r>
              <a:rPr lang="en-US" dirty="0" smtClean="0"/>
              <a:t>who pays for testing and quality?</a:t>
            </a:r>
            <a:endParaRPr lang="en-US" dirty="0" smtClean="0"/>
          </a:p>
        </p:txBody>
      </p:sp>
    </p:spTree>
    <p:extLst>
      <p:ext uri="{BB962C8B-B14F-4D97-AF65-F5344CB8AC3E}">
        <p14:creationId xmlns:p14="http://schemas.microsoft.com/office/powerpoint/2010/main" val="9211044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err="1" smtClean="0"/>
              <a:t>Xamarin</a:t>
            </a:r>
            <a:r>
              <a:rPr lang="en-US" dirty="0" smtClean="0"/>
              <a:t> Learning Path 2</a:t>
            </a:r>
            <a:endParaRPr lang="en-US" dirty="0"/>
          </a:p>
        </p:txBody>
      </p:sp>
      <p:sp>
        <p:nvSpPr>
          <p:cNvPr id="5" name="Content Placeholder 4"/>
          <p:cNvSpPr>
            <a:spLocks noGrp="1"/>
          </p:cNvSpPr>
          <p:nvPr>
            <p:ph sz="quarter" idx="10"/>
          </p:nvPr>
        </p:nvSpPr>
        <p:spPr/>
        <p:txBody>
          <a:bodyPr>
            <a:normAutofit lnSpcReduction="10000"/>
          </a:bodyPr>
          <a:lstStyle/>
          <a:p>
            <a:r>
              <a:rPr lang="en-US" dirty="0" smtClean="0"/>
              <a:t>Disclaimer: my personal opinion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 smtClean="0"/>
              <a:t>Install Linux</a:t>
            </a:r>
            <a:br>
              <a:rPr lang="en-US" dirty="0" smtClean="0"/>
            </a:br>
            <a:r>
              <a:rPr lang="en-US" dirty="0" smtClean="0"/>
              <a:t>2016-09-28 </a:t>
            </a:r>
            <a:r>
              <a:rPr lang="en-US" dirty="0" err="1" smtClean="0"/>
              <a:t>flatpak</a:t>
            </a:r>
            <a:r>
              <a:rPr lang="en-US" dirty="0" smtClean="0"/>
              <a:t>?!?! Again something new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 smtClean="0"/>
              <a:t>Use Linux (common knowledge – </a:t>
            </a:r>
            <a:r>
              <a:rPr lang="en-US" dirty="0" err="1" smtClean="0"/>
              <a:t>sudo</a:t>
            </a:r>
            <a:r>
              <a:rPr lang="en-US" dirty="0" smtClean="0"/>
              <a:t> and Windows)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 smtClean="0"/>
              <a:t>Compile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m</a:t>
            </a:r>
            <a:r>
              <a:rPr lang="en-US" dirty="0" smtClean="0"/>
              <a:t>ono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 err="1" smtClean="0"/>
              <a:t>dotnet</a:t>
            </a:r>
            <a:r>
              <a:rPr lang="en-US" dirty="0" smtClean="0"/>
              <a:t> core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 err="1"/>
              <a:t>l</a:t>
            </a:r>
            <a:r>
              <a:rPr lang="en-US" dirty="0" err="1" smtClean="0"/>
              <a:t>lvm</a:t>
            </a:r>
            <a:r>
              <a:rPr lang="en-US" dirty="0" smtClean="0"/>
              <a:t> toolchain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 smtClean="0"/>
              <a:t>Advanced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 smtClean="0"/>
              <a:t>All of the above for </a:t>
            </a:r>
          </a:p>
          <a:p>
            <a:pPr marL="1428750" lvl="2" indent="-514350">
              <a:buFont typeface="+mj-lt"/>
              <a:buAutoNum type="arabicPeriod"/>
            </a:pPr>
            <a:r>
              <a:rPr lang="en-US" dirty="0" err="1" smtClean="0"/>
              <a:t>IoT</a:t>
            </a:r>
            <a:r>
              <a:rPr lang="en-US" dirty="0" smtClean="0"/>
              <a:t>: </a:t>
            </a:r>
            <a:r>
              <a:rPr lang="en-US" dirty="0" err="1" smtClean="0"/>
              <a:t>RaspberryPi</a:t>
            </a:r>
            <a:r>
              <a:rPr lang="en-US" dirty="0" smtClean="0"/>
              <a:t>, </a:t>
            </a:r>
            <a:r>
              <a:rPr lang="en-US" dirty="0" err="1" smtClean="0"/>
              <a:t>BananaPi</a:t>
            </a:r>
            <a:r>
              <a:rPr lang="en-US" dirty="0" smtClean="0"/>
              <a:t>, </a:t>
            </a:r>
            <a:r>
              <a:rPr lang="is-IS" dirty="0" smtClean="0"/>
              <a:t>…</a:t>
            </a:r>
          </a:p>
          <a:p>
            <a:pPr marL="1428750" lvl="2" indent="-514350">
              <a:buFont typeface="+mj-lt"/>
              <a:buAutoNum type="arabicPeriod"/>
            </a:pPr>
            <a:r>
              <a:rPr lang="is-IS" dirty="0" smtClean="0"/>
              <a:t>OpenIndiana, OpenSolaris, minix</a:t>
            </a:r>
          </a:p>
        </p:txBody>
      </p:sp>
    </p:spTree>
    <p:extLst>
      <p:ext uri="{BB962C8B-B14F-4D97-AF65-F5344CB8AC3E}">
        <p14:creationId xmlns:p14="http://schemas.microsoft.com/office/powerpoint/2010/main" val="6296807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Picture Placeholder 5"/>
          <p:cNvSpPr>
            <a:spLocks noGrp="1"/>
          </p:cNvSpPr>
          <p:nvPr>
            <p:ph type="pic" sz="quarter" idx="11"/>
          </p:nvPr>
        </p:nvSpPr>
        <p:spPr/>
      </p:sp>
    </p:spTree>
    <p:extLst>
      <p:ext uri="{BB962C8B-B14F-4D97-AF65-F5344CB8AC3E}">
        <p14:creationId xmlns:p14="http://schemas.microsoft.com/office/powerpoint/2010/main" val="138783310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ta-IN" dirty="0" smtClean="0"/>
              <a:t>Popunite ankete i osvojite vrijedne nagrade!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sz="quarter" idx="10"/>
          </p:nvPr>
        </p:nvSpPr>
        <p:spPr/>
        <p:txBody>
          <a:bodyPr>
            <a:normAutofit/>
          </a:bodyPr>
          <a:lstStyle/>
          <a:p>
            <a:r>
              <a:rPr lang="ta-IN" dirty="0" smtClean="0"/>
              <a:t>Ankete su dostupne na:</a:t>
            </a:r>
          </a:p>
          <a:p>
            <a:pPr marL="514350" indent="-514350">
              <a:buAutoNum type="alphaLcParenR"/>
            </a:pPr>
            <a:r>
              <a:rPr lang="ta-IN" dirty="0" smtClean="0"/>
              <a:t>Mobilnim uređajima (Android, Apple, Windows)</a:t>
            </a:r>
          </a:p>
          <a:p>
            <a:pPr marL="514350" indent="-514350">
              <a:buAutoNum type="alphaLcParenR"/>
            </a:pPr>
            <a:r>
              <a:rPr lang="ta-IN" dirty="0" smtClean="0"/>
              <a:t>Web-u </a:t>
            </a:r>
            <a:r>
              <a:rPr lang="hr-HR" dirty="0" smtClean="0">
                <a:hlinkClick r:id="rId2"/>
              </a:rPr>
              <a:t>http</a:t>
            </a:r>
            <a:r>
              <a:rPr lang="hr-HR" dirty="0">
                <a:hlinkClick r:id="rId2"/>
              </a:rPr>
              <a:t>://</a:t>
            </a:r>
            <a:r>
              <a:rPr lang="hr-HR" dirty="0" smtClean="0">
                <a:hlinkClick r:id="rId2"/>
              </a:rPr>
              <a:t>www.mobilityday.com</a:t>
            </a:r>
            <a:endParaRPr lang="ta-IN" dirty="0" smtClean="0"/>
          </a:p>
          <a:p>
            <a:r>
              <a:rPr lang="ta-IN" dirty="0" smtClean="0"/>
              <a:t>PIN za pristup se nalazi na poleđini akreditacije i u vašem on-line profilu.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62793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Thanks</a:t>
            </a:r>
            <a:br>
              <a:rPr lang="en-US" dirty="0" smtClean="0"/>
            </a:br>
            <a:r>
              <a:rPr lang="en-US" dirty="0" smtClean="0"/>
              <a:t>?Questions?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6878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MobilityDay2013-PPT-Templat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obilityDay2013-PPT-Template.potx" id="{8C2CA381-0ED1-4697-9400-53B75DFF74AF}" vid="{16E62A3B-B6BD-4A90-8598-DD011436AD0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</a:themeOverrid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0bd0d587-cd8f-4f36-990a-b65a7e766e97">
      <UserInfo>
        <DisplayName>Brigita Prole</DisplayName>
        <AccountId>75</AccountId>
        <AccountType/>
      </UserInfo>
      <UserInfo>
        <DisplayName>Darko Jureković</DisplayName>
        <AccountId>111</AccountId>
        <AccountType/>
      </UserInfo>
      <UserInfo>
        <DisplayName>Iva Petrić</DisplayName>
        <AccountId>32</AccountId>
        <AccountType/>
      </UserInfo>
    </SharedWithUsers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1AAAF100AB6DF47A65215DFAEE63E6A" ma:contentTypeVersion="3" ma:contentTypeDescription="Create a new document." ma:contentTypeScope="" ma:versionID="cffc19251ab1ea7a5d7a1f5cb34589ec">
  <xsd:schema xmlns:xsd="http://www.w3.org/2001/XMLSchema" xmlns:xs="http://www.w3.org/2001/XMLSchema" xmlns:p="http://schemas.microsoft.com/office/2006/metadata/properties" xmlns:ns2="0bd0d587-cd8f-4f36-990a-b65a7e766e97" targetNamespace="http://schemas.microsoft.com/office/2006/metadata/properties" ma:root="true" ma:fieldsID="46579cadc1e84f344d3071da3b714b5c" ns2:_="">
    <xsd:import namespace="0bd0d587-cd8f-4f36-990a-b65a7e766e97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ingHintHash" minOccurs="0"/>
                <xsd:element ref="ns2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bd0d587-cd8f-4f36-990a-b65a7e766e97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ingHintHash" ma:index="9" nillable="true" ma:displayName="Sharing Hint Hash" ma:internalName="SharingHintHash" ma:readOnly="true">
      <xsd:simpleType>
        <xsd:restriction base="dms:Text"/>
      </xsd:simpleType>
    </xsd:element>
    <xsd:element name="SharedWithDetails" ma:index="10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D9CDFE7-8808-4D6E-A5C6-59DA948B5672}">
  <ds:schemaRefs>
    <ds:schemaRef ds:uri="http://schemas.microsoft.com/office/2006/documentManagement/types"/>
    <ds:schemaRef ds:uri="http://purl.org/dc/elements/1.1/"/>
    <ds:schemaRef ds:uri="http://schemas.microsoft.com/office/2006/metadata/properties"/>
    <ds:schemaRef ds:uri="http://schemas.microsoft.com/office/infopath/2007/PartnerControls"/>
    <ds:schemaRef ds:uri="http://purl.org/dc/terms/"/>
    <ds:schemaRef ds:uri="http://schemas.openxmlformats.org/package/2006/metadata/core-properties"/>
    <ds:schemaRef ds:uri="0bd0d587-cd8f-4f36-990a-b65a7e766e97"/>
    <ds:schemaRef ds:uri="http://www.w3.org/XML/1998/namespace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64DAC048-B849-4DF4-8091-C2A878C0A704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D85B83C-1E66-4802-9A92-1F488480726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bd0d587-cd8f-4f36-990a-b65a7e766e9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7727</TotalTime>
  <Words>515</Words>
  <Application>Microsoft Macintosh PowerPoint</Application>
  <PresentationFormat>On-screen Show (4:3)</PresentationFormat>
  <Paragraphs>138</Paragraphs>
  <Slides>20</Slides>
  <Notes>0</Notes>
  <HiddenSlides>1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8" baseType="lpstr">
      <vt:lpstr>Calibri</vt:lpstr>
      <vt:lpstr>Calibri Light</vt:lpstr>
      <vt:lpstr>Century Gothic</vt:lpstr>
      <vt:lpstr>Latha</vt:lpstr>
      <vt:lpstr>Open Sans</vt:lpstr>
      <vt:lpstr>Segoe UI</vt:lpstr>
      <vt:lpstr>Wingdings 2</vt:lpstr>
      <vt:lpstr>MobilityDay2013-PPT-Template</vt:lpstr>
      <vt:lpstr>PowerPoint Presentation</vt:lpstr>
      <vt:lpstr>PowerPoint Presentation</vt:lpstr>
      <vt:lpstr>PowerPoint Presentation</vt:lpstr>
      <vt:lpstr>Intro and motivation 1</vt:lpstr>
      <vt:lpstr>Intro and motivation 2</vt:lpstr>
      <vt:lpstr>Intro and motivation 3</vt:lpstr>
      <vt:lpstr>Intro and motivation 4</vt:lpstr>
      <vt:lpstr>Intro and motivation 5</vt:lpstr>
      <vt:lpstr>Intro and motivation 6</vt:lpstr>
      <vt:lpstr>Intro and motivation 7</vt:lpstr>
      <vt:lpstr>Xamarin NEWS 1</vt:lpstr>
      <vt:lpstr>Xamarin NEWS 2</vt:lpstr>
      <vt:lpstr>Xamarin Technology Stack – Nomenclature </vt:lpstr>
      <vt:lpstr>Xamarin Technology Stack – Nomenclature </vt:lpstr>
      <vt:lpstr>Xamarin Technology Stack – Target </vt:lpstr>
      <vt:lpstr>Xamarin Learning Path 1</vt:lpstr>
      <vt:lpstr>Xamarin Learning Path 2</vt:lpstr>
      <vt:lpstr>PowerPoint Presentation</vt:lpstr>
      <vt:lpstr>Popunite ankete i osvojite vrijedne nagrade!</vt:lpstr>
      <vt:lpstr>Thanks ?Questions?</vt:lpstr>
    </vt:vector>
  </TitlesOfParts>
  <Manager>Tomislav Bronzin</Manager>
  <Company/>
  <LinksUpToDate>false</LinksUpToDate>
  <SharedDoc>false</SharedDoc>
  <HyperlinksChanged>false</HyperlinksChanged>
  <AppVersion>15.0028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>PowerPoint Presentation Template</dc:subject>
  <dc:creator>Tomislav Bronzin</dc:creator>
  <cp:keywords>Mobile, Mobility, Day</cp:keywords>
  <cp:lastModifiedBy>Mel Cvjetko</cp:lastModifiedBy>
  <cp:revision>135</cp:revision>
  <cp:lastPrinted>2016-09-19T22:45:52Z</cp:lastPrinted>
  <dcterms:created xsi:type="dcterms:W3CDTF">2013-09-24T12:18:58Z</dcterms:created>
  <dcterms:modified xsi:type="dcterms:W3CDTF">2016-09-30T07:23:16Z</dcterms:modified>
  <cp:category>PPT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0x01010031AAAF100AB6DF47A65215DFAEE63E6A</vt:lpwstr>
  </property>
</Properties>
</file>